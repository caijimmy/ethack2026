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1" r:id="rId2"/>
    <p:sldId id="360" r:id="rId3"/>
    <p:sldId id="364" r:id="rId4"/>
    <p:sldId id="365" r:id="rId5"/>
    <p:sldId id="266" r:id="rId6"/>
    <p:sldId id="267" r:id="rId7"/>
    <p:sldId id="357" r:id="rId8"/>
    <p:sldId id="259" r:id="rId9"/>
    <p:sldId id="262" r:id="rId10"/>
    <p:sldId id="260" r:id="rId11"/>
    <p:sldId id="366" r:id="rId1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CFD"/>
    <a:srgbClr val="0B8222"/>
    <a:srgbClr val="00DE39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73673"/>
  </p:normalViewPr>
  <p:slideViewPr>
    <p:cSldViewPr snapToGrid="0" showGuides="1">
      <p:cViewPr varScale="1">
        <p:scale>
          <a:sx n="87" d="100"/>
          <a:sy n="87" d="100"/>
        </p:scale>
        <p:origin x="1608" y="208"/>
      </p:cViewPr>
      <p:guideLst>
        <p:guide orient="horz" pos="2115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3755DC-550A-46AA-A76D-118AA6120C48}" type="doc">
      <dgm:prSet loTypeId="urn:microsoft.com/office/officeart/2018/2/layout/IconVerticalSolidList" loCatId="icon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en-US"/>
        </a:p>
      </dgm:t>
    </dgm:pt>
    <dgm:pt modelId="{A4DDF534-0D29-415E-B87C-C55433361A70}">
      <dgm:prSet/>
      <dgm:spPr/>
      <dgm:t>
        <a:bodyPr/>
        <a:lstStyle/>
        <a:p>
          <a:pPr>
            <a:lnSpc>
              <a:spcPct val="100000"/>
            </a:lnSpc>
          </a:pPr>
          <a:r>
            <a:rPr lang="en-CH" b="1"/>
            <a:t>Overpriced</a:t>
          </a:r>
          <a:br>
            <a:rPr lang="en-CH" b="1"/>
          </a:br>
          <a:r>
            <a:rPr lang="en-CH"/>
            <a:t>Cost tens of thousands annually.</a:t>
          </a:r>
          <a:endParaRPr lang="en-US"/>
        </a:p>
      </dgm:t>
    </dgm:pt>
    <dgm:pt modelId="{B3004F65-E7E3-4D57-9EFE-0EA28362A572}" type="parTrans" cxnId="{5D0A9A5D-A2C9-43F8-AFDE-6960891D2086}">
      <dgm:prSet/>
      <dgm:spPr/>
      <dgm:t>
        <a:bodyPr/>
        <a:lstStyle/>
        <a:p>
          <a:endParaRPr lang="en-US"/>
        </a:p>
      </dgm:t>
    </dgm:pt>
    <dgm:pt modelId="{B2A42A21-ED42-43A4-A485-965BAF08A511}" type="sibTrans" cxnId="{5D0A9A5D-A2C9-43F8-AFDE-6960891D2086}">
      <dgm:prSet/>
      <dgm:spPr/>
      <dgm:t>
        <a:bodyPr/>
        <a:lstStyle/>
        <a:p>
          <a:endParaRPr lang="en-US"/>
        </a:p>
      </dgm:t>
    </dgm:pt>
    <dgm:pt modelId="{42F12EA0-7893-4B29-A23A-55D3704ABECC}">
      <dgm:prSet/>
      <dgm:spPr/>
      <dgm:t>
        <a:bodyPr/>
        <a:lstStyle/>
        <a:p>
          <a:pPr>
            <a:lnSpc>
              <a:spcPct val="100000"/>
            </a:lnSpc>
          </a:pPr>
          <a:r>
            <a:rPr lang="en-CH" b="1"/>
            <a:t>Opaque</a:t>
          </a:r>
          <a:br>
            <a:rPr lang="en-CH" b="1"/>
          </a:br>
          <a:r>
            <a:rPr lang="en-CH"/>
            <a:t>Black-box methodologies.</a:t>
          </a:r>
          <a:endParaRPr lang="en-US"/>
        </a:p>
      </dgm:t>
    </dgm:pt>
    <dgm:pt modelId="{5D3F5FF6-C36C-40ED-9BE7-F77739B52DF3}" type="parTrans" cxnId="{E2BAD9AD-8834-44DE-B0B5-E51BACB2E0D9}">
      <dgm:prSet/>
      <dgm:spPr/>
      <dgm:t>
        <a:bodyPr/>
        <a:lstStyle/>
        <a:p>
          <a:endParaRPr lang="en-US"/>
        </a:p>
      </dgm:t>
    </dgm:pt>
    <dgm:pt modelId="{D445CA8C-F9A9-4F88-8972-40B678BB2F5B}" type="sibTrans" cxnId="{E2BAD9AD-8834-44DE-B0B5-E51BACB2E0D9}">
      <dgm:prSet/>
      <dgm:spPr/>
      <dgm:t>
        <a:bodyPr/>
        <a:lstStyle/>
        <a:p>
          <a:endParaRPr lang="en-US"/>
        </a:p>
      </dgm:t>
    </dgm:pt>
    <dgm:pt modelId="{03E245B9-5331-40A3-9962-CB5A7C196C07}">
      <dgm:prSet/>
      <dgm:spPr/>
      <dgm:t>
        <a:bodyPr/>
        <a:lstStyle/>
        <a:p>
          <a:pPr>
            <a:lnSpc>
              <a:spcPct val="100000"/>
            </a:lnSpc>
          </a:pPr>
          <a:r>
            <a:rPr lang="en-CH" b="1"/>
            <a:t>Inconsistent</a:t>
          </a:r>
          <a:br>
            <a:rPr lang="en-CH" b="1"/>
          </a:br>
          <a:r>
            <a:rPr lang="en-CH"/>
            <a:t>Barely 50% agreement among major raters.</a:t>
          </a:r>
          <a:endParaRPr lang="en-US"/>
        </a:p>
      </dgm:t>
    </dgm:pt>
    <dgm:pt modelId="{09F025A6-8B6A-41B1-8344-DE7033820852}" type="parTrans" cxnId="{EF536441-8E99-44E6-A3DE-DE0D5FB298DD}">
      <dgm:prSet/>
      <dgm:spPr/>
      <dgm:t>
        <a:bodyPr/>
        <a:lstStyle/>
        <a:p>
          <a:endParaRPr lang="en-US"/>
        </a:p>
      </dgm:t>
    </dgm:pt>
    <dgm:pt modelId="{858C0F56-0167-4ED6-BABE-2DA59C261BEF}" type="sibTrans" cxnId="{EF536441-8E99-44E6-A3DE-DE0D5FB298DD}">
      <dgm:prSet/>
      <dgm:spPr/>
      <dgm:t>
        <a:bodyPr/>
        <a:lstStyle/>
        <a:p>
          <a:endParaRPr lang="en-US"/>
        </a:p>
      </dgm:t>
    </dgm:pt>
    <dgm:pt modelId="{F39BB24C-72F3-40BA-871E-750A82B83350}" type="pres">
      <dgm:prSet presAssocID="{653755DC-550A-46AA-A76D-118AA6120C48}" presName="root" presStyleCnt="0">
        <dgm:presLayoutVars>
          <dgm:dir/>
          <dgm:resizeHandles val="exact"/>
        </dgm:presLayoutVars>
      </dgm:prSet>
      <dgm:spPr/>
    </dgm:pt>
    <dgm:pt modelId="{0F74B1FA-8FA5-4855-897E-2AA3229B6214}" type="pres">
      <dgm:prSet presAssocID="{A4DDF534-0D29-415E-B87C-C55433361A70}" presName="compNode" presStyleCnt="0"/>
      <dgm:spPr/>
    </dgm:pt>
    <dgm:pt modelId="{50076938-9A68-414B-9746-3DCE49CE2961}" type="pres">
      <dgm:prSet presAssocID="{A4DDF534-0D29-415E-B87C-C55433361A70}" presName="bgRect" presStyleLbl="bgShp" presStyleIdx="0" presStyleCnt="3"/>
      <dgm:spPr/>
    </dgm:pt>
    <dgm:pt modelId="{6268F985-C105-4280-A4DF-97E51AD55A3E}" type="pres">
      <dgm:prSet presAssocID="{A4DDF534-0D29-415E-B87C-C55433361A70}" presName="iconRect" presStyleLbl="node1" presStyleIdx="0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E4867F9-9FB6-4D12-A7DA-8E3B514FD576}" type="pres">
      <dgm:prSet presAssocID="{A4DDF534-0D29-415E-B87C-C55433361A70}" presName="spaceRect" presStyleCnt="0"/>
      <dgm:spPr/>
    </dgm:pt>
    <dgm:pt modelId="{875F331B-21F7-4A91-9896-4780B72DB940}" type="pres">
      <dgm:prSet presAssocID="{A4DDF534-0D29-415E-B87C-C55433361A70}" presName="parTx" presStyleLbl="revTx" presStyleIdx="0" presStyleCnt="3">
        <dgm:presLayoutVars>
          <dgm:chMax val="0"/>
          <dgm:chPref val="0"/>
        </dgm:presLayoutVars>
      </dgm:prSet>
      <dgm:spPr/>
    </dgm:pt>
    <dgm:pt modelId="{603BBDF5-82A6-4F09-A500-A79EB20C65B4}" type="pres">
      <dgm:prSet presAssocID="{B2A42A21-ED42-43A4-A485-965BAF08A511}" presName="sibTrans" presStyleCnt="0"/>
      <dgm:spPr/>
    </dgm:pt>
    <dgm:pt modelId="{05D86DDB-A9E0-467B-99DC-57EA2E93855B}" type="pres">
      <dgm:prSet presAssocID="{42F12EA0-7893-4B29-A23A-55D3704ABECC}" presName="compNode" presStyleCnt="0"/>
      <dgm:spPr/>
    </dgm:pt>
    <dgm:pt modelId="{939D8FC9-02ED-4A51-853A-FCAC8EE19ADF}" type="pres">
      <dgm:prSet presAssocID="{42F12EA0-7893-4B29-A23A-55D3704ABECC}" presName="bgRect" presStyleLbl="bgShp" presStyleIdx="1" presStyleCnt="3"/>
      <dgm:spPr/>
    </dgm:pt>
    <dgm:pt modelId="{1175F1C5-FBDD-412D-ADAE-C04F0881E815}" type="pres">
      <dgm:prSet presAssocID="{42F12EA0-7893-4B29-A23A-55D3704ABECC}" presName="iconRect" presStyleLbl="node1" presStyleIdx="1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91FC3A6E-06B5-47D5-A7D9-1BACF5455CE4}" type="pres">
      <dgm:prSet presAssocID="{42F12EA0-7893-4B29-A23A-55D3704ABECC}" presName="spaceRect" presStyleCnt="0"/>
      <dgm:spPr/>
    </dgm:pt>
    <dgm:pt modelId="{6C6001C0-72BF-45BD-B6AA-9CE4BAF29953}" type="pres">
      <dgm:prSet presAssocID="{42F12EA0-7893-4B29-A23A-55D3704ABECC}" presName="parTx" presStyleLbl="revTx" presStyleIdx="1" presStyleCnt="3">
        <dgm:presLayoutVars>
          <dgm:chMax val="0"/>
          <dgm:chPref val="0"/>
        </dgm:presLayoutVars>
      </dgm:prSet>
      <dgm:spPr/>
    </dgm:pt>
    <dgm:pt modelId="{52F5BFEA-011F-441D-87CF-5D2CC28A1D7D}" type="pres">
      <dgm:prSet presAssocID="{D445CA8C-F9A9-4F88-8972-40B678BB2F5B}" presName="sibTrans" presStyleCnt="0"/>
      <dgm:spPr/>
    </dgm:pt>
    <dgm:pt modelId="{19A5BE63-25B5-46AF-8E9C-072717976C6E}" type="pres">
      <dgm:prSet presAssocID="{03E245B9-5331-40A3-9962-CB5A7C196C07}" presName="compNode" presStyleCnt="0"/>
      <dgm:spPr/>
    </dgm:pt>
    <dgm:pt modelId="{649C0BBE-0CF5-4418-873D-9E8977EC9630}" type="pres">
      <dgm:prSet presAssocID="{03E245B9-5331-40A3-9962-CB5A7C196C07}" presName="bgRect" presStyleLbl="bgShp" presStyleIdx="2" presStyleCnt="3"/>
      <dgm:spPr/>
    </dgm:pt>
    <dgm:pt modelId="{DD2C391B-4D91-48D3-933B-7E0E501903AF}" type="pres">
      <dgm:prSet presAssocID="{03E245B9-5331-40A3-9962-CB5A7C196C07}" presName="iconRect" presStyleLbl="node1" presStyleIdx="2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FB009BE9-B2A8-468C-A370-D4B95B6E83C8}" type="pres">
      <dgm:prSet presAssocID="{03E245B9-5331-40A3-9962-CB5A7C196C07}" presName="spaceRect" presStyleCnt="0"/>
      <dgm:spPr/>
    </dgm:pt>
    <dgm:pt modelId="{2445CD63-3C62-4F44-B1AA-C54F729E4B82}" type="pres">
      <dgm:prSet presAssocID="{03E245B9-5331-40A3-9962-CB5A7C196C0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F536441-8E99-44E6-A3DE-DE0D5FB298DD}" srcId="{653755DC-550A-46AA-A76D-118AA6120C48}" destId="{03E245B9-5331-40A3-9962-CB5A7C196C07}" srcOrd="2" destOrd="0" parTransId="{09F025A6-8B6A-41B1-8344-DE7033820852}" sibTransId="{858C0F56-0167-4ED6-BABE-2DA59C261BEF}"/>
    <dgm:cxn modelId="{5D0A9A5D-A2C9-43F8-AFDE-6960891D2086}" srcId="{653755DC-550A-46AA-A76D-118AA6120C48}" destId="{A4DDF534-0D29-415E-B87C-C55433361A70}" srcOrd="0" destOrd="0" parTransId="{B3004F65-E7E3-4D57-9EFE-0EA28362A572}" sibTransId="{B2A42A21-ED42-43A4-A485-965BAF08A511}"/>
    <dgm:cxn modelId="{218A7176-9C03-418F-83AF-716228D013CF}" type="presOf" srcId="{A4DDF534-0D29-415E-B87C-C55433361A70}" destId="{875F331B-21F7-4A91-9896-4780B72DB940}" srcOrd="0" destOrd="0" presId="urn:microsoft.com/office/officeart/2018/2/layout/IconVerticalSolidList"/>
    <dgm:cxn modelId="{0D3BFE90-F60E-4EBD-971E-191AA15A4775}" type="presOf" srcId="{42F12EA0-7893-4B29-A23A-55D3704ABECC}" destId="{6C6001C0-72BF-45BD-B6AA-9CE4BAF29953}" srcOrd="0" destOrd="0" presId="urn:microsoft.com/office/officeart/2018/2/layout/IconVerticalSolidList"/>
    <dgm:cxn modelId="{E2BAD9AD-8834-44DE-B0B5-E51BACB2E0D9}" srcId="{653755DC-550A-46AA-A76D-118AA6120C48}" destId="{42F12EA0-7893-4B29-A23A-55D3704ABECC}" srcOrd="1" destOrd="0" parTransId="{5D3F5FF6-C36C-40ED-9BE7-F77739B52DF3}" sibTransId="{D445CA8C-F9A9-4F88-8972-40B678BB2F5B}"/>
    <dgm:cxn modelId="{126A93AF-03A6-4054-9ABA-C77F6CCDE002}" type="presOf" srcId="{03E245B9-5331-40A3-9962-CB5A7C196C07}" destId="{2445CD63-3C62-4F44-B1AA-C54F729E4B82}" srcOrd="0" destOrd="0" presId="urn:microsoft.com/office/officeart/2018/2/layout/IconVerticalSolidList"/>
    <dgm:cxn modelId="{AB895EE0-0578-4387-B630-00C49AD9FDF8}" type="presOf" srcId="{653755DC-550A-46AA-A76D-118AA6120C48}" destId="{F39BB24C-72F3-40BA-871E-750A82B83350}" srcOrd="0" destOrd="0" presId="urn:microsoft.com/office/officeart/2018/2/layout/IconVerticalSolidList"/>
    <dgm:cxn modelId="{3672F79F-C426-4423-84CC-227A5382BDCF}" type="presParOf" srcId="{F39BB24C-72F3-40BA-871E-750A82B83350}" destId="{0F74B1FA-8FA5-4855-897E-2AA3229B6214}" srcOrd="0" destOrd="0" presId="urn:microsoft.com/office/officeart/2018/2/layout/IconVerticalSolidList"/>
    <dgm:cxn modelId="{B908DDCE-7A4C-4095-901D-8DCDB920E81D}" type="presParOf" srcId="{0F74B1FA-8FA5-4855-897E-2AA3229B6214}" destId="{50076938-9A68-414B-9746-3DCE49CE2961}" srcOrd="0" destOrd="0" presId="urn:microsoft.com/office/officeart/2018/2/layout/IconVerticalSolidList"/>
    <dgm:cxn modelId="{0A70B7B6-BF72-458C-AA63-87437A33AF16}" type="presParOf" srcId="{0F74B1FA-8FA5-4855-897E-2AA3229B6214}" destId="{6268F985-C105-4280-A4DF-97E51AD55A3E}" srcOrd="1" destOrd="0" presId="urn:microsoft.com/office/officeart/2018/2/layout/IconVerticalSolidList"/>
    <dgm:cxn modelId="{695073F1-B9FD-40A1-93D0-E89A8E5B22AF}" type="presParOf" srcId="{0F74B1FA-8FA5-4855-897E-2AA3229B6214}" destId="{4E4867F9-9FB6-4D12-A7DA-8E3B514FD576}" srcOrd="2" destOrd="0" presId="urn:microsoft.com/office/officeart/2018/2/layout/IconVerticalSolidList"/>
    <dgm:cxn modelId="{ED7486E9-DB69-47D3-803B-DF0441AB0C0B}" type="presParOf" srcId="{0F74B1FA-8FA5-4855-897E-2AA3229B6214}" destId="{875F331B-21F7-4A91-9896-4780B72DB940}" srcOrd="3" destOrd="0" presId="urn:microsoft.com/office/officeart/2018/2/layout/IconVerticalSolidList"/>
    <dgm:cxn modelId="{9EF87412-76F7-41D8-AFB3-D5EB2AF66626}" type="presParOf" srcId="{F39BB24C-72F3-40BA-871E-750A82B83350}" destId="{603BBDF5-82A6-4F09-A500-A79EB20C65B4}" srcOrd="1" destOrd="0" presId="urn:microsoft.com/office/officeart/2018/2/layout/IconVerticalSolidList"/>
    <dgm:cxn modelId="{903ADFC7-2904-426D-B10B-C5BB855B8743}" type="presParOf" srcId="{F39BB24C-72F3-40BA-871E-750A82B83350}" destId="{05D86DDB-A9E0-467B-99DC-57EA2E93855B}" srcOrd="2" destOrd="0" presId="urn:microsoft.com/office/officeart/2018/2/layout/IconVerticalSolidList"/>
    <dgm:cxn modelId="{EA3DADE9-038C-4BE8-8EB0-CB99C87D8B49}" type="presParOf" srcId="{05D86DDB-A9E0-467B-99DC-57EA2E93855B}" destId="{939D8FC9-02ED-4A51-853A-FCAC8EE19ADF}" srcOrd="0" destOrd="0" presId="urn:microsoft.com/office/officeart/2018/2/layout/IconVerticalSolidList"/>
    <dgm:cxn modelId="{D3F3E5CB-3740-407A-90E6-AA74C6B634E7}" type="presParOf" srcId="{05D86DDB-A9E0-467B-99DC-57EA2E93855B}" destId="{1175F1C5-FBDD-412D-ADAE-C04F0881E815}" srcOrd="1" destOrd="0" presId="urn:microsoft.com/office/officeart/2018/2/layout/IconVerticalSolidList"/>
    <dgm:cxn modelId="{51F15DB5-FB24-4597-8701-E56BE0C225B0}" type="presParOf" srcId="{05D86DDB-A9E0-467B-99DC-57EA2E93855B}" destId="{91FC3A6E-06B5-47D5-A7D9-1BACF5455CE4}" srcOrd="2" destOrd="0" presId="urn:microsoft.com/office/officeart/2018/2/layout/IconVerticalSolidList"/>
    <dgm:cxn modelId="{1F82DD87-0555-4463-AE01-0B9791C56903}" type="presParOf" srcId="{05D86DDB-A9E0-467B-99DC-57EA2E93855B}" destId="{6C6001C0-72BF-45BD-B6AA-9CE4BAF29953}" srcOrd="3" destOrd="0" presId="urn:microsoft.com/office/officeart/2018/2/layout/IconVerticalSolidList"/>
    <dgm:cxn modelId="{F87778EA-06DF-4B87-A27B-87EA6643E40C}" type="presParOf" srcId="{F39BB24C-72F3-40BA-871E-750A82B83350}" destId="{52F5BFEA-011F-441D-87CF-5D2CC28A1D7D}" srcOrd="3" destOrd="0" presId="urn:microsoft.com/office/officeart/2018/2/layout/IconVerticalSolidList"/>
    <dgm:cxn modelId="{E20A5D63-9DC5-4F84-8765-5F185FC7500A}" type="presParOf" srcId="{F39BB24C-72F3-40BA-871E-750A82B83350}" destId="{19A5BE63-25B5-46AF-8E9C-072717976C6E}" srcOrd="4" destOrd="0" presId="urn:microsoft.com/office/officeart/2018/2/layout/IconVerticalSolidList"/>
    <dgm:cxn modelId="{EA2C5CF3-9782-4F80-8CE7-FB421AA444E5}" type="presParOf" srcId="{19A5BE63-25B5-46AF-8E9C-072717976C6E}" destId="{649C0BBE-0CF5-4418-873D-9E8977EC9630}" srcOrd="0" destOrd="0" presId="urn:microsoft.com/office/officeart/2018/2/layout/IconVerticalSolidList"/>
    <dgm:cxn modelId="{6DDF85CE-EE9D-424B-8939-F6C7F78A7908}" type="presParOf" srcId="{19A5BE63-25B5-46AF-8E9C-072717976C6E}" destId="{DD2C391B-4D91-48D3-933B-7E0E501903AF}" srcOrd="1" destOrd="0" presId="urn:microsoft.com/office/officeart/2018/2/layout/IconVerticalSolidList"/>
    <dgm:cxn modelId="{1CCDD325-73C7-4F47-84DD-C11BA30735BA}" type="presParOf" srcId="{19A5BE63-25B5-46AF-8E9C-072717976C6E}" destId="{FB009BE9-B2A8-468C-A370-D4B95B6E83C8}" srcOrd="2" destOrd="0" presId="urn:microsoft.com/office/officeart/2018/2/layout/IconVerticalSolidList"/>
    <dgm:cxn modelId="{59D7124A-BB25-49AA-B58B-5E2D77062D00}" type="presParOf" srcId="{19A5BE63-25B5-46AF-8E9C-072717976C6E}" destId="{2445CD63-3C62-4F44-B1AA-C54F729E4B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B30080-7F18-4037-8D13-418EAD40B90C}" type="doc">
      <dgm:prSet loTypeId="urn:microsoft.com/office/officeart/2018/5/layout/IconCircleLabelList" loCatId="icon" qsTypeId="urn:microsoft.com/office/officeart/2005/8/quickstyle/simple1#20" qsCatId="simple" csTypeId="urn:microsoft.com/office/officeart/2005/8/colors/accent1_2#16" csCatId="accent1" phldr="1"/>
      <dgm:spPr/>
      <dgm:t>
        <a:bodyPr/>
        <a:lstStyle/>
        <a:p>
          <a:endParaRPr lang="en-US"/>
        </a:p>
      </dgm:t>
    </dgm:pt>
    <dgm:pt modelId="{0A150748-BE4B-4956-9887-E5EB2D829C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H" b="1"/>
            <a:t>Geographic gap</a:t>
          </a:r>
          <a:r>
            <a:rPr lang="en-CH"/>
            <a:t> — US sites only. </a:t>
          </a:r>
          <a:endParaRPr lang="en-US"/>
        </a:p>
      </dgm:t>
    </dgm:pt>
    <dgm:pt modelId="{95E566CB-8C61-4315-9800-4D131A689AC8}" type="parTrans" cxnId="{14A99FD8-DC7A-45BB-9CF3-355DEE4B8185}">
      <dgm:prSet/>
      <dgm:spPr/>
      <dgm:t>
        <a:bodyPr/>
        <a:lstStyle/>
        <a:p>
          <a:endParaRPr lang="en-US"/>
        </a:p>
      </dgm:t>
    </dgm:pt>
    <dgm:pt modelId="{DCADC816-CA11-40B4-846C-953F2C8F6FC7}" type="sibTrans" cxnId="{14A99FD8-DC7A-45BB-9CF3-355DEE4B8185}">
      <dgm:prSet/>
      <dgm:spPr/>
      <dgm:t>
        <a:bodyPr/>
        <a:lstStyle/>
        <a:p>
          <a:endParaRPr lang="en-US"/>
        </a:p>
      </dgm:t>
    </dgm:pt>
    <dgm:pt modelId="{03F67BB2-60D4-422B-A1F2-80827413230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H" b="1"/>
            <a:t>Scope 3 gap</a:t>
          </a:r>
          <a:r>
            <a:rPr lang="en-CH"/>
            <a:t> — No supply-chain emissions counted.</a:t>
          </a:r>
          <a:endParaRPr lang="en-US"/>
        </a:p>
      </dgm:t>
    </dgm:pt>
    <dgm:pt modelId="{57D3CAB4-4E46-4BE2-9DC7-79D9360B6205}" type="parTrans" cxnId="{1EAFFA53-243F-417F-A911-E448D68A52AB}">
      <dgm:prSet/>
      <dgm:spPr/>
      <dgm:t>
        <a:bodyPr/>
        <a:lstStyle/>
        <a:p>
          <a:endParaRPr lang="en-US"/>
        </a:p>
      </dgm:t>
    </dgm:pt>
    <dgm:pt modelId="{9A84079D-EC22-453D-9422-0CDC2AB89813}" type="sibTrans" cxnId="{1EAFFA53-243F-417F-A911-E448D68A52AB}">
      <dgm:prSet/>
      <dgm:spPr/>
      <dgm:t>
        <a:bodyPr/>
        <a:lstStyle/>
        <a:p>
          <a:endParaRPr lang="en-US"/>
        </a:p>
      </dgm:t>
    </dgm:pt>
    <dgm:pt modelId="{940DB83E-CBC8-4C7A-A71B-559C6F01CA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H" b="1"/>
            <a:t>Ranking gap</a:t>
          </a:r>
          <a:r>
            <a:rPr lang="en-CH"/>
            <a:t> — Sector rank can mislead.</a:t>
          </a:r>
          <a:endParaRPr lang="en-US"/>
        </a:p>
      </dgm:t>
    </dgm:pt>
    <dgm:pt modelId="{A031E5DB-BB1A-4315-A1CC-C0AE945D28DB}" type="parTrans" cxnId="{46507020-C913-4F9B-9C9F-02A54DFF8F7A}">
      <dgm:prSet/>
      <dgm:spPr/>
      <dgm:t>
        <a:bodyPr/>
        <a:lstStyle/>
        <a:p>
          <a:endParaRPr lang="en-US"/>
        </a:p>
      </dgm:t>
    </dgm:pt>
    <dgm:pt modelId="{6B3B2FAD-F65C-4D5B-BEB4-DA06CB740940}" type="sibTrans" cxnId="{46507020-C913-4F9B-9C9F-02A54DFF8F7A}">
      <dgm:prSet/>
      <dgm:spPr/>
      <dgm:t>
        <a:bodyPr/>
        <a:lstStyle/>
        <a:p>
          <a:endParaRPr lang="en-US"/>
        </a:p>
      </dgm:t>
    </dgm:pt>
    <dgm:pt modelId="{C2541392-C0E4-4799-8A5B-916AE11C6F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H" b="1"/>
            <a:t>Time-lag gap</a:t>
          </a:r>
          <a:r>
            <a:rPr lang="en-CH"/>
            <a:t> — Mixed data years.</a:t>
          </a:r>
          <a:endParaRPr lang="en-US"/>
        </a:p>
      </dgm:t>
    </dgm:pt>
    <dgm:pt modelId="{758B9A73-98F4-4D61-8A86-B15F06C1CF1E}" type="parTrans" cxnId="{8EF7F7D4-D82F-4E7B-AF96-47547C52C8EF}">
      <dgm:prSet/>
      <dgm:spPr/>
      <dgm:t>
        <a:bodyPr/>
        <a:lstStyle/>
        <a:p>
          <a:endParaRPr lang="en-US"/>
        </a:p>
      </dgm:t>
    </dgm:pt>
    <dgm:pt modelId="{87D86C73-88CF-4F15-8976-526FEA93B70B}" type="sibTrans" cxnId="{8EF7F7D4-D82F-4E7B-AF96-47547C52C8EF}">
      <dgm:prSet/>
      <dgm:spPr/>
      <dgm:t>
        <a:bodyPr/>
        <a:lstStyle/>
        <a:p>
          <a:endParaRPr lang="en-US"/>
        </a:p>
      </dgm:t>
    </dgm:pt>
    <dgm:pt modelId="{5C2881CE-A139-4C52-B2FE-BE3077646C1D}" type="pres">
      <dgm:prSet presAssocID="{BDB30080-7F18-4037-8D13-418EAD40B90C}" presName="root" presStyleCnt="0">
        <dgm:presLayoutVars>
          <dgm:dir/>
          <dgm:resizeHandles val="exact"/>
        </dgm:presLayoutVars>
      </dgm:prSet>
      <dgm:spPr/>
    </dgm:pt>
    <dgm:pt modelId="{CAB7502F-88C3-483A-A40A-E51B93FCA4D5}" type="pres">
      <dgm:prSet presAssocID="{0A150748-BE4B-4956-9887-E5EB2D829CF4}" presName="compNode" presStyleCnt="0"/>
      <dgm:spPr/>
    </dgm:pt>
    <dgm:pt modelId="{B4B62D22-EDE2-4E97-B64C-12ED370956AA}" type="pres">
      <dgm:prSet presAssocID="{0A150748-BE4B-4956-9887-E5EB2D829CF4}" presName="iconBgRect" presStyleLbl="bgShp" presStyleIdx="0" presStyleCnt="4"/>
      <dgm:spPr/>
    </dgm:pt>
    <dgm:pt modelId="{5A84B1FF-BFF6-4EDD-92C4-38AB60C620A8}" type="pres">
      <dgm:prSet presAssocID="{0A150748-BE4B-4956-9887-E5EB2D829CF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51634AD-B897-4424-AC71-0AC94CD6AA91}" type="pres">
      <dgm:prSet presAssocID="{0A150748-BE4B-4956-9887-E5EB2D829CF4}" presName="spaceRect" presStyleCnt="0"/>
      <dgm:spPr/>
    </dgm:pt>
    <dgm:pt modelId="{A83F84D2-B4FC-464A-BB46-973EDCA906B9}" type="pres">
      <dgm:prSet presAssocID="{0A150748-BE4B-4956-9887-E5EB2D829CF4}" presName="textRect" presStyleLbl="revTx" presStyleIdx="0" presStyleCnt="4">
        <dgm:presLayoutVars>
          <dgm:chMax val="1"/>
          <dgm:chPref val="1"/>
        </dgm:presLayoutVars>
      </dgm:prSet>
      <dgm:spPr/>
    </dgm:pt>
    <dgm:pt modelId="{50D5AB03-9F00-4A52-BCF2-D36E592AB16D}" type="pres">
      <dgm:prSet presAssocID="{DCADC816-CA11-40B4-846C-953F2C8F6FC7}" presName="sibTrans" presStyleCnt="0"/>
      <dgm:spPr/>
    </dgm:pt>
    <dgm:pt modelId="{00B30971-3D60-4006-8B20-9D78C5314882}" type="pres">
      <dgm:prSet presAssocID="{03F67BB2-60D4-422B-A1F2-808274132300}" presName="compNode" presStyleCnt="0"/>
      <dgm:spPr/>
    </dgm:pt>
    <dgm:pt modelId="{891B4109-7A60-4D3F-8E92-F3209C826D29}" type="pres">
      <dgm:prSet presAssocID="{03F67BB2-60D4-422B-A1F2-808274132300}" presName="iconBgRect" presStyleLbl="bgShp" presStyleIdx="1" presStyleCnt="4"/>
      <dgm:spPr>
        <a:ln>
          <a:noFill/>
        </a:ln>
      </dgm:spPr>
    </dgm:pt>
    <dgm:pt modelId="{7C2DE3ED-363C-46CD-91E2-249E72B2475A}" type="pres">
      <dgm:prSet presAssocID="{03F67BB2-60D4-422B-A1F2-80827413230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se"/>
        </a:ext>
      </dgm:extLst>
    </dgm:pt>
    <dgm:pt modelId="{F02F4E44-20CB-4794-81C7-85D1C782A9B7}" type="pres">
      <dgm:prSet presAssocID="{03F67BB2-60D4-422B-A1F2-808274132300}" presName="spaceRect" presStyleCnt="0"/>
      <dgm:spPr/>
    </dgm:pt>
    <dgm:pt modelId="{ED4E8D2C-8402-40BE-AC8E-F9E3A7640477}" type="pres">
      <dgm:prSet presAssocID="{03F67BB2-60D4-422B-A1F2-808274132300}" presName="textRect" presStyleLbl="revTx" presStyleIdx="1" presStyleCnt="4">
        <dgm:presLayoutVars>
          <dgm:chMax val="1"/>
          <dgm:chPref val="1"/>
        </dgm:presLayoutVars>
      </dgm:prSet>
      <dgm:spPr/>
    </dgm:pt>
    <dgm:pt modelId="{3DDBA909-13AC-44E8-9615-C43334B16415}" type="pres">
      <dgm:prSet presAssocID="{9A84079D-EC22-453D-9422-0CDC2AB89813}" presName="sibTrans" presStyleCnt="0"/>
      <dgm:spPr/>
    </dgm:pt>
    <dgm:pt modelId="{69DF20B2-DC3D-41D8-8F85-C0788F2F373C}" type="pres">
      <dgm:prSet presAssocID="{940DB83E-CBC8-4C7A-A71B-559C6F01CA3C}" presName="compNode" presStyleCnt="0"/>
      <dgm:spPr/>
    </dgm:pt>
    <dgm:pt modelId="{1AE5CD11-B261-4FCF-8B69-7EDFDD4DF239}" type="pres">
      <dgm:prSet presAssocID="{940DB83E-CBC8-4C7A-A71B-559C6F01CA3C}" presName="iconBgRect" presStyleLbl="bgShp" presStyleIdx="2" presStyleCnt="4"/>
      <dgm:spPr/>
    </dgm:pt>
    <dgm:pt modelId="{BD617A3A-2E4A-4908-9D2E-0F628DC8DF79}" type="pres">
      <dgm:prSet presAssocID="{940DB83E-CBC8-4C7A-A71B-559C6F01CA3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3F9B755-405E-474A-99C1-5BA6E97A5A6C}" type="pres">
      <dgm:prSet presAssocID="{940DB83E-CBC8-4C7A-A71B-559C6F01CA3C}" presName="spaceRect" presStyleCnt="0"/>
      <dgm:spPr/>
    </dgm:pt>
    <dgm:pt modelId="{2F473138-FE33-4A69-BAD0-B12EB7D2BF3A}" type="pres">
      <dgm:prSet presAssocID="{940DB83E-CBC8-4C7A-A71B-559C6F01CA3C}" presName="textRect" presStyleLbl="revTx" presStyleIdx="2" presStyleCnt="4">
        <dgm:presLayoutVars>
          <dgm:chMax val="1"/>
          <dgm:chPref val="1"/>
        </dgm:presLayoutVars>
      </dgm:prSet>
      <dgm:spPr/>
    </dgm:pt>
    <dgm:pt modelId="{4F035568-743A-4D64-8BDE-5501749486EC}" type="pres">
      <dgm:prSet presAssocID="{6B3B2FAD-F65C-4D5B-BEB4-DA06CB740940}" presName="sibTrans" presStyleCnt="0"/>
      <dgm:spPr/>
    </dgm:pt>
    <dgm:pt modelId="{70A7DB2F-4A96-4633-A094-FDA26B959FB9}" type="pres">
      <dgm:prSet presAssocID="{C2541392-C0E4-4799-8A5B-916AE11C6FD7}" presName="compNode" presStyleCnt="0"/>
      <dgm:spPr/>
    </dgm:pt>
    <dgm:pt modelId="{272988FD-CC71-4427-8FBA-6782361CDD41}" type="pres">
      <dgm:prSet presAssocID="{C2541392-C0E4-4799-8A5B-916AE11C6FD7}" presName="iconBgRect" presStyleLbl="bgShp" presStyleIdx="3" presStyleCnt="4"/>
      <dgm:spPr>
        <a:ln>
          <a:noFill/>
        </a:ln>
      </dgm:spPr>
    </dgm:pt>
    <dgm:pt modelId="{CB1913C7-08B8-4E81-BD6E-CBD04184DBD6}" type="pres">
      <dgm:prSet presAssocID="{C2541392-C0E4-4799-8A5B-916AE11C6FD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3CC3119-F367-4DD5-9048-6092630545D7}" type="pres">
      <dgm:prSet presAssocID="{C2541392-C0E4-4799-8A5B-916AE11C6FD7}" presName="spaceRect" presStyleCnt="0"/>
      <dgm:spPr/>
    </dgm:pt>
    <dgm:pt modelId="{FF49B984-44B9-4102-AB04-E6B4D5C4F5CA}" type="pres">
      <dgm:prSet presAssocID="{C2541392-C0E4-4799-8A5B-916AE11C6FD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6507020-C913-4F9B-9C9F-02A54DFF8F7A}" srcId="{BDB30080-7F18-4037-8D13-418EAD40B90C}" destId="{940DB83E-CBC8-4C7A-A71B-559C6F01CA3C}" srcOrd="2" destOrd="0" parTransId="{A031E5DB-BB1A-4315-A1CC-C0AE945D28DB}" sibTransId="{6B3B2FAD-F65C-4D5B-BEB4-DA06CB740940}"/>
    <dgm:cxn modelId="{1EAFFA53-243F-417F-A911-E448D68A52AB}" srcId="{BDB30080-7F18-4037-8D13-418EAD40B90C}" destId="{03F67BB2-60D4-422B-A1F2-808274132300}" srcOrd="1" destOrd="0" parTransId="{57D3CAB4-4E46-4BE2-9DC7-79D9360B6205}" sibTransId="{9A84079D-EC22-453D-9422-0CDC2AB89813}"/>
    <dgm:cxn modelId="{3E317EBD-A0AF-4871-84CC-640B9D71FE1E}" type="presOf" srcId="{0A150748-BE4B-4956-9887-E5EB2D829CF4}" destId="{A83F84D2-B4FC-464A-BB46-973EDCA906B9}" srcOrd="0" destOrd="0" presId="urn:microsoft.com/office/officeart/2018/5/layout/IconCircleLabelList"/>
    <dgm:cxn modelId="{0BF75DC9-A924-4A05-9C96-A0619DC2F8B9}" type="presOf" srcId="{03F67BB2-60D4-422B-A1F2-808274132300}" destId="{ED4E8D2C-8402-40BE-AC8E-F9E3A7640477}" srcOrd="0" destOrd="0" presId="urn:microsoft.com/office/officeart/2018/5/layout/IconCircleLabelList"/>
    <dgm:cxn modelId="{40F45CCF-89A7-4DDE-9A3E-97804E39270A}" type="presOf" srcId="{BDB30080-7F18-4037-8D13-418EAD40B90C}" destId="{5C2881CE-A139-4C52-B2FE-BE3077646C1D}" srcOrd="0" destOrd="0" presId="urn:microsoft.com/office/officeart/2018/5/layout/IconCircleLabelList"/>
    <dgm:cxn modelId="{8EF7F7D4-D82F-4E7B-AF96-47547C52C8EF}" srcId="{BDB30080-7F18-4037-8D13-418EAD40B90C}" destId="{C2541392-C0E4-4799-8A5B-916AE11C6FD7}" srcOrd="3" destOrd="0" parTransId="{758B9A73-98F4-4D61-8A86-B15F06C1CF1E}" sibTransId="{87D86C73-88CF-4F15-8976-526FEA93B70B}"/>
    <dgm:cxn modelId="{14A99FD8-DC7A-45BB-9CF3-355DEE4B8185}" srcId="{BDB30080-7F18-4037-8D13-418EAD40B90C}" destId="{0A150748-BE4B-4956-9887-E5EB2D829CF4}" srcOrd="0" destOrd="0" parTransId="{95E566CB-8C61-4315-9800-4D131A689AC8}" sibTransId="{DCADC816-CA11-40B4-846C-953F2C8F6FC7}"/>
    <dgm:cxn modelId="{7B68B3F1-33E8-4465-A63E-A8AEACF8B490}" type="presOf" srcId="{940DB83E-CBC8-4C7A-A71B-559C6F01CA3C}" destId="{2F473138-FE33-4A69-BAD0-B12EB7D2BF3A}" srcOrd="0" destOrd="0" presId="urn:microsoft.com/office/officeart/2018/5/layout/IconCircleLabelList"/>
    <dgm:cxn modelId="{4502C2FB-E497-4C7F-A5CA-BB479B4D0379}" type="presOf" srcId="{C2541392-C0E4-4799-8A5B-916AE11C6FD7}" destId="{FF49B984-44B9-4102-AB04-E6B4D5C4F5CA}" srcOrd="0" destOrd="0" presId="urn:microsoft.com/office/officeart/2018/5/layout/IconCircleLabelList"/>
    <dgm:cxn modelId="{7BAC2966-3823-4F3F-B647-94DF31B7E983}" type="presParOf" srcId="{5C2881CE-A139-4C52-B2FE-BE3077646C1D}" destId="{CAB7502F-88C3-483A-A40A-E51B93FCA4D5}" srcOrd="0" destOrd="0" presId="urn:microsoft.com/office/officeart/2018/5/layout/IconCircleLabelList"/>
    <dgm:cxn modelId="{EFE958F7-DF01-450D-A356-8C808958A755}" type="presParOf" srcId="{CAB7502F-88C3-483A-A40A-E51B93FCA4D5}" destId="{B4B62D22-EDE2-4E97-B64C-12ED370956AA}" srcOrd="0" destOrd="0" presId="urn:microsoft.com/office/officeart/2018/5/layout/IconCircleLabelList"/>
    <dgm:cxn modelId="{35773FE2-2D06-45A3-9590-EC1978D3E853}" type="presParOf" srcId="{CAB7502F-88C3-483A-A40A-E51B93FCA4D5}" destId="{5A84B1FF-BFF6-4EDD-92C4-38AB60C620A8}" srcOrd="1" destOrd="0" presId="urn:microsoft.com/office/officeart/2018/5/layout/IconCircleLabelList"/>
    <dgm:cxn modelId="{4D95AC51-7CBA-4C13-845D-5C311B635188}" type="presParOf" srcId="{CAB7502F-88C3-483A-A40A-E51B93FCA4D5}" destId="{651634AD-B897-4424-AC71-0AC94CD6AA91}" srcOrd="2" destOrd="0" presId="urn:microsoft.com/office/officeart/2018/5/layout/IconCircleLabelList"/>
    <dgm:cxn modelId="{F02E3E15-4E24-4A45-99EA-79E2C9753F68}" type="presParOf" srcId="{CAB7502F-88C3-483A-A40A-E51B93FCA4D5}" destId="{A83F84D2-B4FC-464A-BB46-973EDCA906B9}" srcOrd="3" destOrd="0" presId="urn:microsoft.com/office/officeart/2018/5/layout/IconCircleLabelList"/>
    <dgm:cxn modelId="{E27687C0-D0D3-4587-8B2D-C0A40D38793B}" type="presParOf" srcId="{5C2881CE-A139-4C52-B2FE-BE3077646C1D}" destId="{50D5AB03-9F00-4A52-BCF2-D36E592AB16D}" srcOrd="1" destOrd="0" presId="urn:microsoft.com/office/officeart/2018/5/layout/IconCircleLabelList"/>
    <dgm:cxn modelId="{828247CE-F3D9-4498-908F-C38869B58273}" type="presParOf" srcId="{5C2881CE-A139-4C52-B2FE-BE3077646C1D}" destId="{00B30971-3D60-4006-8B20-9D78C5314882}" srcOrd="2" destOrd="0" presId="urn:microsoft.com/office/officeart/2018/5/layout/IconCircleLabelList"/>
    <dgm:cxn modelId="{71E08644-983C-453E-AE40-CEE4A2D79537}" type="presParOf" srcId="{00B30971-3D60-4006-8B20-9D78C5314882}" destId="{891B4109-7A60-4D3F-8E92-F3209C826D29}" srcOrd="0" destOrd="0" presId="urn:microsoft.com/office/officeart/2018/5/layout/IconCircleLabelList"/>
    <dgm:cxn modelId="{CB8C6B26-1934-4ABC-81BC-58A3BD19035C}" type="presParOf" srcId="{00B30971-3D60-4006-8B20-9D78C5314882}" destId="{7C2DE3ED-363C-46CD-91E2-249E72B2475A}" srcOrd="1" destOrd="0" presId="urn:microsoft.com/office/officeart/2018/5/layout/IconCircleLabelList"/>
    <dgm:cxn modelId="{0473A5DC-582D-4D2B-8046-AA10EB42A79E}" type="presParOf" srcId="{00B30971-3D60-4006-8B20-9D78C5314882}" destId="{F02F4E44-20CB-4794-81C7-85D1C782A9B7}" srcOrd="2" destOrd="0" presId="urn:microsoft.com/office/officeart/2018/5/layout/IconCircleLabelList"/>
    <dgm:cxn modelId="{DA99A07E-7C30-4443-828C-064F8F143B85}" type="presParOf" srcId="{00B30971-3D60-4006-8B20-9D78C5314882}" destId="{ED4E8D2C-8402-40BE-AC8E-F9E3A7640477}" srcOrd="3" destOrd="0" presId="urn:microsoft.com/office/officeart/2018/5/layout/IconCircleLabelList"/>
    <dgm:cxn modelId="{0BB1572E-9B1A-4B34-BDD5-EEAEAD8D75F8}" type="presParOf" srcId="{5C2881CE-A139-4C52-B2FE-BE3077646C1D}" destId="{3DDBA909-13AC-44E8-9615-C43334B16415}" srcOrd="3" destOrd="0" presId="urn:microsoft.com/office/officeart/2018/5/layout/IconCircleLabelList"/>
    <dgm:cxn modelId="{A65B6A98-021A-489E-BC4D-7EAF2B28F3C4}" type="presParOf" srcId="{5C2881CE-A139-4C52-B2FE-BE3077646C1D}" destId="{69DF20B2-DC3D-41D8-8F85-C0788F2F373C}" srcOrd="4" destOrd="0" presId="urn:microsoft.com/office/officeart/2018/5/layout/IconCircleLabelList"/>
    <dgm:cxn modelId="{78062D25-5E9B-4F8E-87E8-BDF0F3BA8380}" type="presParOf" srcId="{69DF20B2-DC3D-41D8-8F85-C0788F2F373C}" destId="{1AE5CD11-B261-4FCF-8B69-7EDFDD4DF239}" srcOrd="0" destOrd="0" presId="urn:microsoft.com/office/officeart/2018/5/layout/IconCircleLabelList"/>
    <dgm:cxn modelId="{F5CE12F3-15A1-4862-9786-4096926B2A55}" type="presParOf" srcId="{69DF20B2-DC3D-41D8-8F85-C0788F2F373C}" destId="{BD617A3A-2E4A-4908-9D2E-0F628DC8DF79}" srcOrd="1" destOrd="0" presId="urn:microsoft.com/office/officeart/2018/5/layout/IconCircleLabelList"/>
    <dgm:cxn modelId="{AD1B5F04-E209-4293-87CD-4CB824D71A85}" type="presParOf" srcId="{69DF20B2-DC3D-41D8-8F85-C0788F2F373C}" destId="{03F9B755-405E-474A-99C1-5BA6E97A5A6C}" srcOrd="2" destOrd="0" presId="urn:microsoft.com/office/officeart/2018/5/layout/IconCircleLabelList"/>
    <dgm:cxn modelId="{A96C06C9-7036-48F2-A2CC-DCFBECA256C9}" type="presParOf" srcId="{69DF20B2-DC3D-41D8-8F85-C0788F2F373C}" destId="{2F473138-FE33-4A69-BAD0-B12EB7D2BF3A}" srcOrd="3" destOrd="0" presId="urn:microsoft.com/office/officeart/2018/5/layout/IconCircleLabelList"/>
    <dgm:cxn modelId="{3472B345-E7D2-44A6-8CC0-CAED7BFAEC8F}" type="presParOf" srcId="{5C2881CE-A139-4C52-B2FE-BE3077646C1D}" destId="{4F035568-743A-4D64-8BDE-5501749486EC}" srcOrd="5" destOrd="0" presId="urn:microsoft.com/office/officeart/2018/5/layout/IconCircleLabelList"/>
    <dgm:cxn modelId="{D78B953C-81AA-4898-82A9-B73518EA881D}" type="presParOf" srcId="{5C2881CE-A139-4C52-B2FE-BE3077646C1D}" destId="{70A7DB2F-4A96-4633-A094-FDA26B959FB9}" srcOrd="6" destOrd="0" presId="urn:microsoft.com/office/officeart/2018/5/layout/IconCircleLabelList"/>
    <dgm:cxn modelId="{18B23975-8ED7-4B53-98AD-51A974F615CD}" type="presParOf" srcId="{70A7DB2F-4A96-4633-A094-FDA26B959FB9}" destId="{272988FD-CC71-4427-8FBA-6782361CDD41}" srcOrd="0" destOrd="0" presId="urn:microsoft.com/office/officeart/2018/5/layout/IconCircleLabelList"/>
    <dgm:cxn modelId="{CC98B2D1-4FA8-4C8E-A55C-D96D2C5E4C2A}" type="presParOf" srcId="{70A7DB2F-4A96-4633-A094-FDA26B959FB9}" destId="{CB1913C7-08B8-4E81-BD6E-CBD04184DBD6}" srcOrd="1" destOrd="0" presId="urn:microsoft.com/office/officeart/2018/5/layout/IconCircleLabelList"/>
    <dgm:cxn modelId="{38F3BE18-9043-48B4-9451-D3336FD27F4F}" type="presParOf" srcId="{70A7DB2F-4A96-4633-A094-FDA26B959FB9}" destId="{63CC3119-F367-4DD5-9048-6092630545D7}" srcOrd="2" destOrd="0" presId="urn:microsoft.com/office/officeart/2018/5/layout/IconCircleLabelList"/>
    <dgm:cxn modelId="{6E2F6813-B47C-4FC3-A42C-6A273DC986C1}" type="presParOf" srcId="{70A7DB2F-4A96-4633-A094-FDA26B959FB9}" destId="{FF49B984-44B9-4102-AB04-E6B4D5C4F5C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3755DC-550A-46AA-A76D-118AA6120C48}" type="doc">
      <dgm:prSet loTypeId="urn:microsoft.com/office/officeart/2018/2/layout/IconVerticalSolidList" loCatId="icon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en-US"/>
        </a:p>
      </dgm:t>
    </dgm:pt>
    <dgm:pt modelId="{A4DDF534-0D29-415E-B87C-C55433361A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H" sz="1800" b="1"/>
            <a:t>Zero Cost</a:t>
          </a:r>
          <a:br>
            <a:rPr lang="en-CH" sz="1800" b="1"/>
          </a:br>
          <a:r>
            <a:rPr lang="en-CH" sz="1800"/>
            <a:t>No backend, no server bill. It runs from a laptop or a free GitHub page.</a:t>
          </a:r>
          <a:endParaRPr lang="en-US" sz="1800"/>
        </a:p>
      </dgm:t>
    </dgm:pt>
    <dgm:pt modelId="{B3004F65-E7E3-4D57-9EFE-0EA28362A572}" type="parTrans" cxnId="{5D0A9A5D-A2C9-43F8-AFDE-6960891D2086}">
      <dgm:prSet/>
      <dgm:spPr/>
      <dgm:t>
        <a:bodyPr/>
        <a:lstStyle/>
        <a:p>
          <a:endParaRPr lang="en-US"/>
        </a:p>
      </dgm:t>
    </dgm:pt>
    <dgm:pt modelId="{B2A42A21-ED42-43A4-A485-965BAF08A511}" type="sibTrans" cxnId="{5D0A9A5D-A2C9-43F8-AFDE-6960891D2086}">
      <dgm:prSet/>
      <dgm:spPr/>
      <dgm:t>
        <a:bodyPr/>
        <a:lstStyle/>
        <a:p>
          <a:endParaRPr lang="en-US"/>
        </a:p>
      </dgm:t>
    </dgm:pt>
    <dgm:pt modelId="{42F12EA0-7893-4B29-A23A-55D3704ABE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H" sz="1800" b="1"/>
            <a:t>Public, audited data.</a:t>
          </a:r>
          <a:br>
            <a:rPr lang="en-CH" sz="1800" b="1"/>
          </a:br>
          <a:r>
            <a:rPr lang="en-CH" sz="1800" b="0"/>
            <a:t>The d</a:t>
          </a:r>
          <a:r>
            <a:rPr lang="en-CH" sz="1800"/>
            <a:t>ataset is a legal filing. Companies cannot opt out, published annually.</a:t>
          </a:r>
          <a:endParaRPr lang="en-US" sz="1800"/>
        </a:p>
      </dgm:t>
    </dgm:pt>
    <dgm:pt modelId="{5D3F5FF6-C36C-40ED-9BE7-F77739B52DF3}" type="parTrans" cxnId="{E2BAD9AD-8834-44DE-B0B5-E51BACB2E0D9}">
      <dgm:prSet/>
      <dgm:spPr/>
      <dgm:t>
        <a:bodyPr/>
        <a:lstStyle/>
        <a:p>
          <a:endParaRPr lang="en-US"/>
        </a:p>
      </dgm:t>
    </dgm:pt>
    <dgm:pt modelId="{D445CA8C-F9A9-4F88-8972-40B678BB2F5B}" type="sibTrans" cxnId="{E2BAD9AD-8834-44DE-B0B5-E51BACB2E0D9}">
      <dgm:prSet/>
      <dgm:spPr/>
      <dgm:t>
        <a:bodyPr/>
        <a:lstStyle/>
        <a:p>
          <a:endParaRPr lang="en-US"/>
        </a:p>
      </dgm:t>
    </dgm:pt>
    <dgm:pt modelId="{03E245B9-5331-40A3-9962-CB5A7C196C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H" sz="1800" b="1"/>
            <a:t>Built for the world Paris describes</a:t>
          </a:r>
          <a:br>
            <a:rPr lang="en-CH" sz="1800" b="1"/>
          </a:br>
          <a:r>
            <a:rPr lang="en-CH" sz="1800"/>
            <a:t>Our definition tests a company against a carbon price and enforced law.</a:t>
          </a:r>
          <a:endParaRPr lang="en-US" sz="1800"/>
        </a:p>
      </dgm:t>
    </dgm:pt>
    <dgm:pt modelId="{09F025A6-8B6A-41B1-8344-DE7033820852}" type="parTrans" cxnId="{EF536441-8E99-44E6-A3DE-DE0D5FB298DD}">
      <dgm:prSet/>
      <dgm:spPr/>
      <dgm:t>
        <a:bodyPr/>
        <a:lstStyle/>
        <a:p>
          <a:endParaRPr lang="en-US"/>
        </a:p>
      </dgm:t>
    </dgm:pt>
    <dgm:pt modelId="{858C0F56-0167-4ED6-BABE-2DA59C261BEF}" type="sibTrans" cxnId="{EF536441-8E99-44E6-A3DE-DE0D5FB298DD}">
      <dgm:prSet/>
      <dgm:spPr/>
      <dgm:t>
        <a:bodyPr/>
        <a:lstStyle/>
        <a:p>
          <a:endParaRPr lang="en-US"/>
        </a:p>
      </dgm:t>
    </dgm:pt>
    <dgm:pt modelId="{F39BB24C-72F3-40BA-871E-750A82B83350}" type="pres">
      <dgm:prSet presAssocID="{653755DC-550A-46AA-A76D-118AA6120C48}" presName="root" presStyleCnt="0">
        <dgm:presLayoutVars>
          <dgm:dir/>
          <dgm:resizeHandles val="exact"/>
        </dgm:presLayoutVars>
      </dgm:prSet>
      <dgm:spPr/>
    </dgm:pt>
    <dgm:pt modelId="{0F74B1FA-8FA5-4855-897E-2AA3229B6214}" type="pres">
      <dgm:prSet presAssocID="{A4DDF534-0D29-415E-B87C-C55433361A70}" presName="compNode" presStyleCnt="0"/>
      <dgm:spPr/>
    </dgm:pt>
    <dgm:pt modelId="{50076938-9A68-414B-9746-3DCE49CE2961}" type="pres">
      <dgm:prSet presAssocID="{A4DDF534-0D29-415E-B87C-C55433361A70}" presName="bgRect" presStyleLbl="bgShp" presStyleIdx="0" presStyleCnt="3"/>
      <dgm:spPr/>
    </dgm:pt>
    <dgm:pt modelId="{6268F985-C105-4280-A4DF-97E51AD55A3E}" type="pres">
      <dgm:prSet presAssocID="{A4DDF534-0D29-415E-B87C-C55433361A70}" presName="iconRect" presStyleLbl="node1" presStyleIdx="0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E4867F9-9FB6-4D12-A7DA-8E3B514FD576}" type="pres">
      <dgm:prSet presAssocID="{A4DDF534-0D29-415E-B87C-C55433361A70}" presName="spaceRect" presStyleCnt="0"/>
      <dgm:spPr/>
    </dgm:pt>
    <dgm:pt modelId="{875F331B-21F7-4A91-9896-4780B72DB940}" type="pres">
      <dgm:prSet presAssocID="{A4DDF534-0D29-415E-B87C-C55433361A70}" presName="parTx" presStyleLbl="revTx" presStyleIdx="0" presStyleCnt="3">
        <dgm:presLayoutVars>
          <dgm:chMax val="0"/>
          <dgm:chPref val="0"/>
        </dgm:presLayoutVars>
      </dgm:prSet>
      <dgm:spPr/>
    </dgm:pt>
    <dgm:pt modelId="{603BBDF5-82A6-4F09-A500-A79EB20C65B4}" type="pres">
      <dgm:prSet presAssocID="{B2A42A21-ED42-43A4-A485-965BAF08A511}" presName="sibTrans" presStyleCnt="0"/>
      <dgm:spPr/>
    </dgm:pt>
    <dgm:pt modelId="{05D86DDB-A9E0-467B-99DC-57EA2E93855B}" type="pres">
      <dgm:prSet presAssocID="{42F12EA0-7893-4B29-A23A-55D3704ABECC}" presName="compNode" presStyleCnt="0"/>
      <dgm:spPr/>
    </dgm:pt>
    <dgm:pt modelId="{939D8FC9-02ED-4A51-853A-FCAC8EE19ADF}" type="pres">
      <dgm:prSet presAssocID="{42F12EA0-7893-4B29-A23A-55D3704ABECC}" presName="bgRect" presStyleLbl="bgShp" presStyleIdx="1" presStyleCnt="3"/>
      <dgm:spPr/>
    </dgm:pt>
    <dgm:pt modelId="{1175F1C5-FBDD-412D-ADAE-C04F0881E815}" type="pres">
      <dgm:prSet presAssocID="{42F12EA0-7893-4B29-A23A-55D3704ABECC}" presName="iconRect" presStyleLbl="node1" presStyleIdx="1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91FC3A6E-06B5-47D5-A7D9-1BACF5455CE4}" type="pres">
      <dgm:prSet presAssocID="{42F12EA0-7893-4B29-A23A-55D3704ABECC}" presName="spaceRect" presStyleCnt="0"/>
      <dgm:spPr/>
    </dgm:pt>
    <dgm:pt modelId="{6C6001C0-72BF-45BD-B6AA-9CE4BAF29953}" type="pres">
      <dgm:prSet presAssocID="{42F12EA0-7893-4B29-A23A-55D3704ABECC}" presName="parTx" presStyleLbl="revTx" presStyleIdx="1" presStyleCnt="3">
        <dgm:presLayoutVars>
          <dgm:chMax val="0"/>
          <dgm:chPref val="0"/>
        </dgm:presLayoutVars>
      </dgm:prSet>
      <dgm:spPr/>
    </dgm:pt>
    <dgm:pt modelId="{52F5BFEA-011F-441D-87CF-5D2CC28A1D7D}" type="pres">
      <dgm:prSet presAssocID="{D445CA8C-F9A9-4F88-8972-40B678BB2F5B}" presName="sibTrans" presStyleCnt="0"/>
      <dgm:spPr/>
    </dgm:pt>
    <dgm:pt modelId="{19A5BE63-25B5-46AF-8E9C-072717976C6E}" type="pres">
      <dgm:prSet presAssocID="{03E245B9-5331-40A3-9962-CB5A7C196C07}" presName="compNode" presStyleCnt="0"/>
      <dgm:spPr/>
    </dgm:pt>
    <dgm:pt modelId="{649C0BBE-0CF5-4418-873D-9E8977EC9630}" type="pres">
      <dgm:prSet presAssocID="{03E245B9-5331-40A3-9962-CB5A7C196C07}" presName="bgRect" presStyleLbl="bgShp" presStyleIdx="2" presStyleCnt="3"/>
      <dgm:spPr/>
    </dgm:pt>
    <dgm:pt modelId="{DD2C391B-4D91-48D3-933B-7E0E501903AF}" type="pres">
      <dgm:prSet presAssocID="{03E245B9-5331-40A3-9962-CB5A7C196C07}" presName="iconRect" presStyleLbl="node1" presStyleIdx="2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FB009BE9-B2A8-468C-A370-D4B95B6E83C8}" type="pres">
      <dgm:prSet presAssocID="{03E245B9-5331-40A3-9962-CB5A7C196C07}" presName="spaceRect" presStyleCnt="0"/>
      <dgm:spPr/>
    </dgm:pt>
    <dgm:pt modelId="{2445CD63-3C62-4F44-B1AA-C54F729E4B82}" type="pres">
      <dgm:prSet presAssocID="{03E245B9-5331-40A3-9962-CB5A7C196C0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F536441-8E99-44E6-A3DE-DE0D5FB298DD}" srcId="{653755DC-550A-46AA-A76D-118AA6120C48}" destId="{03E245B9-5331-40A3-9962-CB5A7C196C07}" srcOrd="2" destOrd="0" parTransId="{09F025A6-8B6A-41B1-8344-DE7033820852}" sibTransId="{858C0F56-0167-4ED6-BABE-2DA59C261BEF}"/>
    <dgm:cxn modelId="{5D0A9A5D-A2C9-43F8-AFDE-6960891D2086}" srcId="{653755DC-550A-46AA-A76D-118AA6120C48}" destId="{A4DDF534-0D29-415E-B87C-C55433361A70}" srcOrd="0" destOrd="0" parTransId="{B3004F65-E7E3-4D57-9EFE-0EA28362A572}" sibTransId="{B2A42A21-ED42-43A4-A485-965BAF08A511}"/>
    <dgm:cxn modelId="{218A7176-9C03-418F-83AF-716228D013CF}" type="presOf" srcId="{A4DDF534-0D29-415E-B87C-C55433361A70}" destId="{875F331B-21F7-4A91-9896-4780B72DB940}" srcOrd="0" destOrd="0" presId="urn:microsoft.com/office/officeart/2018/2/layout/IconVerticalSolidList"/>
    <dgm:cxn modelId="{0D3BFE90-F60E-4EBD-971E-191AA15A4775}" type="presOf" srcId="{42F12EA0-7893-4B29-A23A-55D3704ABECC}" destId="{6C6001C0-72BF-45BD-B6AA-9CE4BAF29953}" srcOrd="0" destOrd="0" presId="urn:microsoft.com/office/officeart/2018/2/layout/IconVerticalSolidList"/>
    <dgm:cxn modelId="{E2BAD9AD-8834-44DE-B0B5-E51BACB2E0D9}" srcId="{653755DC-550A-46AA-A76D-118AA6120C48}" destId="{42F12EA0-7893-4B29-A23A-55D3704ABECC}" srcOrd="1" destOrd="0" parTransId="{5D3F5FF6-C36C-40ED-9BE7-F77739B52DF3}" sibTransId="{D445CA8C-F9A9-4F88-8972-40B678BB2F5B}"/>
    <dgm:cxn modelId="{126A93AF-03A6-4054-9ABA-C77F6CCDE002}" type="presOf" srcId="{03E245B9-5331-40A3-9962-CB5A7C196C07}" destId="{2445CD63-3C62-4F44-B1AA-C54F729E4B82}" srcOrd="0" destOrd="0" presId="urn:microsoft.com/office/officeart/2018/2/layout/IconVerticalSolidList"/>
    <dgm:cxn modelId="{AB895EE0-0578-4387-B630-00C49AD9FDF8}" type="presOf" srcId="{653755DC-550A-46AA-A76D-118AA6120C48}" destId="{F39BB24C-72F3-40BA-871E-750A82B83350}" srcOrd="0" destOrd="0" presId="urn:microsoft.com/office/officeart/2018/2/layout/IconVerticalSolidList"/>
    <dgm:cxn modelId="{3672F79F-C426-4423-84CC-227A5382BDCF}" type="presParOf" srcId="{F39BB24C-72F3-40BA-871E-750A82B83350}" destId="{0F74B1FA-8FA5-4855-897E-2AA3229B6214}" srcOrd="0" destOrd="0" presId="urn:microsoft.com/office/officeart/2018/2/layout/IconVerticalSolidList"/>
    <dgm:cxn modelId="{B908DDCE-7A4C-4095-901D-8DCDB920E81D}" type="presParOf" srcId="{0F74B1FA-8FA5-4855-897E-2AA3229B6214}" destId="{50076938-9A68-414B-9746-3DCE49CE2961}" srcOrd="0" destOrd="0" presId="urn:microsoft.com/office/officeart/2018/2/layout/IconVerticalSolidList"/>
    <dgm:cxn modelId="{0A70B7B6-BF72-458C-AA63-87437A33AF16}" type="presParOf" srcId="{0F74B1FA-8FA5-4855-897E-2AA3229B6214}" destId="{6268F985-C105-4280-A4DF-97E51AD55A3E}" srcOrd="1" destOrd="0" presId="urn:microsoft.com/office/officeart/2018/2/layout/IconVerticalSolidList"/>
    <dgm:cxn modelId="{695073F1-B9FD-40A1-93D0-E89A8E5B22AF}" type="presParOf" srcId="{0F74B1FA-8FA5-4855-897E-2AA3229B6214}" destId="{4E4867F9-9FB6-4D12-A7DA-8E3B514FD576}" srcOrd="2" destOrd="0" presId="urn:microsoft.com/office/officeart/2018/2/layout/IconVerticalSolidList"/>
    <dgm:cxn modelId="{ED7486E9-DB69-47D3-803B-DF0441AB0C0B}" type="presParOf" srcId="{0F74B1FA-8FA5-4855-897E-2AA3229B6214}" destId="{875F331B-21F7-4A91-9896-4780B72DB940}" srcOrd="3" destOrd="0" presId="urn:microsoft.com/office/officeart/2018/2/layout/IconVerticalSolidList"/>
    <dgm:cxn modelId="{9EF87412-76F7-41D8-AFB3-D5EB2AF66626}" type="presParOf" srcId="{F39BB24C-72F3-40BA-871E-750A82B83350}" destId="{603BBDF5-82A6-4F09-A500-A79EB20C65B4}" srcOrd="1" destOrd="0" presId="urn:microsoft.com/office/officeart/2018/2/layout/IconVerticalSolidList"/>
    <dgm:cxn modelId="{903ADFC7-2904-426D-B10B-C5BB855B8743}" type="presParOf" srcId="{F39BB24C-72F3-40BA-871E-750A82B83350}" destId="{05D86DDB-A9E0-467B-99DC-57EA2E93855B}" srcOrd="2" destOrd="0" presId="urn:microsoft.com/office/officeart/2018/2/layout/IconVerticalSolidList"/>
    <dgm:cxn modelId="{EA3DADE9-038C-4BE8-8EB0-CB99C87D8B49}" type="presParOf" srcId="{05D86DDB-A9E0-467B-99DC-57EA2E93855B}" destId="{939D8FC9-02ED-4A51-853A-FCAC8EE19ADF}" srcOrd="0" destOrd="0" presId="urn:microsoft.com/office/officeart/2018/2/layout/IconVerticalSolidList"/>
    <dgm:cxn modelId="{D3F3E5CB-3740-407A-90E6-AA74C6B634E7}" type="presParOf" srcId="{05D86DDB-A9E0-467B-99DC-57EA2E93855B}" destId="{1175F1C5-FBDD-412D-ADAE-C04F0881E815}" srcOrd="1" destOrd="0" presId="urn:microsoft.com/office/officeart/2018/2/layout/IconVerticalSolidList"/>
    <dgm:cxn modelId="{51F15DB5-FB24-4597-8701-E56BE0C225B0}" type="presParOf" srcId="{05D86DDB-A9E0-467B-99DC-57EA2E93855B}" destId="{91FC3A6E-06B5-47D5-A7D9-1BACF5455CE4}" srcOrd="2" destOrd="0" presId="urn:microsoft.com/office/officeart/2018/2/layout/IconVerticalSolidList"/>
    <dgm:cxn modelId="{1F82DD87-0555-4463-AE01-0B9791C56903}" type="presParOf" srcId="{05D86DDB-A9E0-467B-99DC-57EA2E93855B}" destId="{6C6001C0-72BF-45BD-B6AA-9CE4BAF29953}" srcOrd="3" destOrd="0" presId="urn:microsoft.com/office/officeart/2018/2/layout/IconVerticalSolidList"/>
    <dgm:cxn modelId="{F87778EA-06DF-4B87-A27B-87EA6643E40C}" type="presParOf" srcId="{F39BB24C-72F3-40BA-871E-750A82B83350}" destId="{52F5BFEA-011F-441D-87CF-5D2CC28A1D7D}" srcOrd="3" destOrd="0" presId="urn:microsoft.com/office/officeart/2018/2/layout/IconVerticalSolidList"/>
    <dgm:cxn modelId="{E20A5D63-9DC5-4F84-8765-5F185FC7500A}" type="presParOf" srcId="{F39BB24C-72F3-40BA-871E-750A82B83350}" destId="{19A5BE63-25B5-46AF-8E9C-072717976C6E}" srcOrd="4" destOrd="0" presId="urn:microsoft.com/office/officeart/2018/2/layout/IconVerticalSolidList"/>
    <dgm:cxn modelId="{EA2C5CF3-9782-4F80-8CE7-FB421AA444E5}" type="presParOf" srcId="{19A5BE63-25B5-46AF-8E9C-072717976C6E}" destId="{649C0BBE-0CF5-4418-873D-9E8977EC9630}" srcOrd="0" destOrd="0" presId="urn:microsoft.com/office/officeart/2018/2/layout/IconVerticalSolidList"/>
    <dgm:cxn modelId="{6DDF85CE-EE9D-424B-8939-F6C7F78A7908}" type="presParOf" srcId="{19A5BE63-25B5-46AF-8E9C-072717976C6E}" destId="{DD2C391B-4D91-48D3-933B-7E0E501903AF}" srcOrd="1" destOrd="0" presId="urn:microsoft.com/office/officeart/2018/2/layout/IconVerticalSolidList"/>
    <dgm:cxn modelId="{1CCDD325-73C7-4F47-84DD-C11BA30735BA}" type="presParOf" srcId="{19A5BE63-25B5-46AF-8E9C-072717976C6E}" destId="{FB009BE9-B2A8-468C-A370-D4B95B6E83C8}" srcOrd="2" destOrd="0" presId="urn:microsoft.com/office/officeart/2018/2/layout/IconVerticalSolidList"/>
    <dgm:cxn modelId="{59D7124A-BB25-49AA-B58B-5E2D77062D00}" type="presParOf" srcId="{19A5BE63-25B5-46AF-8E9C-072717976C6E}" destId="{2445CD63-3C62-4F44-B1AA-C54F729E4B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76938-9A68-414B-9746-3DCE49CE2961}">
      <dsp:nvSpPr>
        <dsp:cNvPr id="0" name=""/>
        <dsp:cNvSpPr/>
      </dsp:nvSpPr>
      <dsp:spPr>
        <a:xfrm>
          <a:off x="0" y="478"/>
          <a:ext cx="4858989" cy="1118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8F985-C105-4280-A4DF-97E51AD55A3E}">
      <dsp:nvSpPr>
        <dsp:cNvPr id="0" name=""/>
        <dsp:cNvSpPr/>
      </dsp:nvSpPr>
      <dsp:spPr>
        <a:xfrm>
          <a:off x="338461" y="252226"/>
          <a:ext cx="615383" cy="615383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F331B-21F7-4A91-9896-4780B72DB940}">
      <dsp:nvSpPr>
        <dsp:cNvPr id="0" name=""/>
        <dsp:cNvSpPr/>
      </dsp:nvSpPr>
      <dsp:spPr>
        <a:xfrm>
          <a:off x="1292305" y="478"/>
          <a:ext cx="3566684" cy="1118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5" tIns="118415" rIns="118415" bIns="1184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H" sz="1800" b="1" kern="1200"/>
            <a:t>Overpriced</a:t>
          </a:r>
          <a:br>
            <a:rPr lang="en-CH" sz="1800" b="1" kern="1200"/>
          </a:br>
          <a:r>
            <a:rPr lang="en-CH" sz="1800" kern="1200"/>
            <a:t>Cost tens of thousands annually.</a:t>
          </a:r>
          <a:endParaRPr lang="en-US" sz="1800" kern="1200"/>
        </a:p>
      </dsp:txBody>
      <dsp:txXfrm>
        <a:off x="1292305" y="478"/>
        <a:ext cx="3566684" cy="1118879"/>
      </dsp:txXfrm>
    </dsp:sp>
    <dsp:sp modelId="{939D8FC9-02ED-4A51-853A-FCAC8EE19ADF}">
      <dsp:nvSpPr>
        <dsp:cNvPr id="0" name=""/>
        <dsp:cNvSpPr/>
      </dsp:nvSpPr>
      <dsp:spPr>
        <a:xfrm>
          <a:off x="0" y="1399077"/>
          <a:ext cx="4858989" cy="1118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5F1C5-FBDD-412D-ADAE-C04F0881E815}">
      <dsp:nvSpPr>
        <dsp:cNvPr id="0" name=""/>
        <dsp:cNvSpPr/>
      </dsp:nvSpPr>
      <dsp:spPr>
        <a:xfrm>
          <a:off x="338461" y="1650825"/>
          <a:ext cx="615383" cy="615383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001C0-72BF-45BD-B6AA-9CE4BAF29953}">
      <dsp:nvSpPr>
        <dsp:cNvPr id="0" name=""/>
        <dsp:cNvSpPr/>
      </dsp:nvSpPr>
      <dsp:spPr>
        <a:xfrm>
          <a:off x="1292305" y="1399077"/>
          <a:ext cx="3566684" cy="1118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5" tIns="118415" rIns="118415" bIns="1184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H" sz="1800" b="1" kern="1200"/>
            <a:t>Opaque</a:t>
          </a:r>
          <a:br>
            <a:rPr lang="en-CH" sz="1800" b="1" kern="1200"/>
          </a:br>
          <a:r>
            <a:rPr lang="en-CH" sz="1800" kern="1200"/>
            <a:t>Black-box methodologies.</a:t>
          </a:r>
          <a:endParaRPr lang="en-US" sz="1800" kern="1200"/>
        </a:p>
      </dsp:txBody>
      <dsp:txXfrm>
        <a:off x="1292305" y="1399077"/>
        <a:ext cx="3566684" cy="1118879"/>
      </dsp:txXfrm>
    </dsp:sp>
    <dsp:sp modelId="{649C0BBE-0CF5-4418-873D-9E8977EC9630}">
      <dsp:nvSpPr>
        <dsp:cNvPr id="0" name=""/>
        <dsp:cNvSpPr/>
      </dsp:nvSpPr>
      <dsp:spPr>
        <a:xfrm>
          <a:off x="0" y="2797676"/>
          <a:ext cx="4858989" cy="1118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C391B-4D91-48D3-933B-7E0E501903AF}">
      <dsp:nvSpPr>
        <dsp:cNvPr id="0" name=""/>
        <dsp:cNvSpPr/>
      </dsp:nvSpPr>
      <dsp:spPr>
        <a:xfrm>
          <a:off x="338461" y="3049424"/>
          <a:ext cx="615383" cy="615383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5CD63-3C62-4F44-B1AA-C54F729E4B82}">
      <dsp:nvSpPr>
        <dsp:cNvPr id="0" name=""/>
        <dsp:cNvSpPr/>
      </dsp:nvSpPr>
      <dsp:spPr>
        <a:xfrm>
          <a:off x="1292305" y="2797676"/>
          <a:ext cx="3566684" cy="1118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5" tIns="118415" rIns="118415" bIns="1184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H" sz="1800" b="1" kern="1200"/>
            <a:t>Inconsistent</a:t>
          </a:r>
          <a:br>
            <a:rPr lang="en-CH" sz="1800" b="1" kern="1200"/>
          </a:br>
          <a:r>
            <a:rPr lang="en-CH" sz="1800" kern="1200"/>
            <a:t>Barely 50% agreement among major raters.</a:t>
          </a:r>
          <a:endParaRPr lang="en-US" sz="1800" kern="1200"/>
        </a:p>
      </dsp:txBody>
      <dsp:txXfrm>
        <a:off x="1292305" y="2797676"/>
        <a:ext cx="3566684" cy="11188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62D22-EDE2-4E97-B64C-12ED370956AA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4B1FF-BFF6-4EDD-92C4-38AB60C620A8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F84D2-B4FC-464A-BB46-973EDCA906B9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H" sz="1500" b="1" kern="1200"/>
            <a:t>Geographic gap</a:t>
          </a:r>
          <a:r>
            <a:rPr lang="en-CH" sz="1500" kern="1200"/>
            <a:t> — US sites only. </a:t>
          </a:r>
          <a:endParaRPr lang="en-US" sz="1500" kern="1200"/>
        </a:p>
      </dsp:txBody>
      <dsp:txXfrm>
        <a:off x="569079" y="2644614"/>
        <a:ext cx="2072362" cy="720000"/>
      </dsp:txXfrm>
    </dsp:sp>
    <dsp:sp modelId="{891B4109-7A60-4D3F-8E92-F3209C826D29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2DE3ED-363C-46CD-91E2-249E72B2475A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E8D2C-8402-40BE-AC8E-F9E3A7640477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H" sz="1500" b="1" kern="1200"/>
            <a:t>Scope 3 gap</a:t>
          </a:r>
          <a:r>
            <a:rPr lang="en-CH" sz="1500" kern="1200"/>
            <a:t> — No supply-chain emissions counted.</a:t>
          </a:r>
          <a:endParaRPr lang="en-US" sz="1500" kern="1200"/>
        </a:p>
      </dsp:txBody>
      <dsp:txXfrm>
        <a:off x="3004105" y="2644614"/>
        <a:ext cx="2072362" cy="720000"/>
      </dsp:txXfrm>
    </dsp:sp>
    <dsp:sp modelId="{1AE5CD11-B261-4FCF-8B69-7EDFDD4DF239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17A3A-2E4A-4908-9D2E-0F628DC8DF79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73138-FE33-4A69-BAD0-B12EB7D2BF3A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H" sz="1500" b="1" kern="1200"/>
            <a:t>Ranking gap</a:t>
          </a:r>
          <a:r>
            <a:rPr lang="en-CH" sz="1500" kern="1200"/>
            <a:t> — Sector rank can mislead.</a:t>
          </a:r>
          <a:endParaRPr lang="en-US" sz="1500" kern="1200"/>
        </a:p>
      </dsp:txBody>
      <dsp:txXfrm>
        <a:off x="5439131" y="2644614"/>
        <a:ext cx="2072362" cy="720000"/>
      </dsp:txXfrm>
    </dsp:sp>
    <dsp:sp modelId="{272988FD-CC71-4427-8FBA-6782361CDD41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913C7-08B8-4E81-BD6E-CBD04184DBD6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9B984-44B9-4102-AB04-E6B4D5C4F5CA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H" sz="1500" b="1" kern="1200"/>
            <a:t>Time-lag gap</a:t>
          </a:r>
          <a:r>
            <a:rPr lang="en-CH" sz="1500" kern="1200"/>
            <a:t> — Mixed data years.</a:t>
          </a:r>
          <a:endParaRPr lang="en-US" sz="1500" kern="1200"/>
        </a:p>
      </dsp:txBody>
      <dsp:txXfrm>
        <a:off x="7874157" y="2644614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76938-9A68-414B-9746-3DCE49CE2961}">
      <dsp:nvSpPr>
        <dsp:cNvPr id="0" name=""/>
        <dsp:cNvSpPr/>
      </dsp:nvSpPr>
      <dsp:spPr>
        <a:xfrm>
          <a:off x="0" y="478"/>
          <a:ext cx="7094192" cy="1118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8F985-C105-4280-A4DF-97E51AD55A3E}">
      <dsp:nvSpPr>
        <dsp:cNvPr id="0" name=""/>
        <dsp:cNvSpPr/>
      </dsp:nvSpPr>
      <dsp:spPr>
        <a:xfrm>
          <a:off x="338461" y="252226"/>
          <a:ext cx="615383" cy="615383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F331B-21F7-4A91-9896-4780B72DB940}">
      <dsp:nvSpPr>
        <dsp:cNvPr id="0" name=""/>
        <dsp:cNvSpPr/>
      </dsp:nvSpPr>
      <dsp:spPr>
        <a:xfrm>
          <a:off x="1292305" y="478"/>
          <a:ext cx="5801886" cy="1118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5" tIns="118415" rIns="118415" bIns="1184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H" sz="1800" b="1" kern="1200"/>
            <a:t>Zero Cost</a:t>
          </a:r>
          <a:br>
            <a:rPr lang="en-CH" sz="1800" b="1" kern="1200"/>
          </a:br>
          <a:r>
            <a:rPr lang="en-CH" sz="1800" kern="1200"/>
            <a:t>No backend, no server bill. It runs from a laptop or a free GitHub page.</a:t>
          </a:r>
          <a:endParaRPr lang="en-US" sz="1800" kern="1200"/>
        </a:p>
      </dsp:txBody>
      <dsp:txXfrm>
        <a:off x="1292305" y="478"/>
        <a:ext cx="5801886" cy="1118879"/>
      </dsp:txXfrm>
    </dsp:sp>
    <dsp:sp modelId="{939D8FC9-02ED-4A51-853A-FCAC8EE19ADF}">
      <dsp:nvSpPr>
        <dsp:cNvPr id="0" name=""/>
        <dsp:cNvSpPr/>
      </dsp:nvSpPr>
      <dsp:spPr>
        <a:xfrm>
          <a:off x="0" y="1399077"/>
          <a:ext cx="7094192" cy="1118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5F1C5-FBDD-412D-ADAE-C04F0881E815}">
      <dsp:nvSpPr>
        <dsp:cNvPr id="0" name=""/>
        <dsp:cNvSpPr/>
      </dsp:nvSpPr>
      <dsp:spPr>
        <a:xfrm>
          <a:off x="338461" y="1650825"/>
          <a:ext cx="615383" cy="615383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001C0-72BF-45BD-B6AA-9CE4BAF29953}">
      <dsp:nvSpPr>
        <dsp:cNvPr id="0" name=""/>
        <dsp:cNvSpPr/>
      </dsp:nvSpPr>
      <dsp:spPr>
        <a:xfrm>
          <a:off x="1292305" y="1399077"/>
          <a:ext cx="5801886" cy="1118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5" tIns="118415" rIns="118415" bIns="1184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H" sz="1800" b="1" kern="1200"/>
            <a:t>Public, audited data.</a:t>
          </a:r>
          <a:br>
            <a:rPr lang="en-CH" sz="1800" b="1" kern="1200"/>
          </a:br>
          <a:r>
            <a:rPr lang="en-CH" sz="1800" b="0" kern="1200"/>
            <a:t>The d</a:t>
          </a:r>
          <a:r>
            <a:rPr lang="en-CH" sz="1800" kern="1200"/>
            <a:t>ataset is a legal filing. Companies cannot opt out, published annually.</a:t>
          </a:r>
          <a:endParaRPr lang="en-US" sz="1800" kern="1200"/>
        </a:p>
      </dsp:txBody>
      <dsp:txXfrm>
        <a:off x="1292305" y="1399077"/>
        <a:ext cx="5801886" cy="1118879"/>
      </dsp:txXfrm>
    </dsp:sp>
    <dsp:sp modelId="{649C0BBE-0CF5-4418-873D-9E8977EC9630}">
      <dsp:nvSpPr>
        <dsp:cNvPr id="0" name=""/>
        <dsp:cNvSpPr/>
      </dsp:nvSpPr>
      <dsp:spPr>
        <a:xfrm>
          <a:off x="0" y="2797676"/>
          <a:ext cx="7094192" cy="1118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C391B-4D91-48D3-933B-7E0E501903AF}">
      <dsp:nvSpPr>
        <dsp:cNvPr id="0" name=""/>
        <dsp:cNvSpPr/>
      </dsp:nvSpPr>
      <dsp:spPr>
        <a:xfrm>
          <a:off x="338461" y="3049424"/>
          <a:ext cx="615383" cy="615383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5CD63-3C62-4F44-B1AA-C54F729E4B82}">
      <dsp:nvSpPr>
        <dsp:cNvPr id="0" name=""/>
        <dsp:cNvSpPr/>
      </dsp:nvSpPr>
      <dsp:spPr>
        <a:xfrm>
          <a:off x="1292305" y="2797676"/>
          <a:ext cx="5801886" cy="1118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5" tIns="118415" rIns="118415" bIns="1184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H" sz="1800" b="1" kern="1200"/>
            <a:t>Built for the world Paris describes</a:t>
          </a:r>
          <a:br>
            <a:rPr lang="en-CH" sz="1800" b="1" kern="1200"/>
          </a:br>
          <a:r>
            <a:rPr lang="en-CH" sz="1800" kern="1200"/>
            <a:t>Our definition tests a company against a carbon price and enforced law.</a:t>
          </a:r>
          <a:endParaRPr lang="en-US" sz="1800" kern="1200"/>
        </a:p>
      </dsp:txBody>
      <dsp:txXfrm>
        <a:off x="1292305" y="2797676"/>
        <a:ext cx="5801886" cy="1118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EB5F-A12E-C849-9315-8E88DDC9233D}" type="datetimeFigureOut">
              <a:t>13.09.2026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B1ECA-CBF8-E445-8DD0-8EA4E5CF8890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00933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ABE1-E21C-F8E8-705D-04926705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470BE-3DE1-C685-A0BD-1A6DE977E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4D6D07-D8E4-3308-5387-35FCA2E93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/>
              <a:t>Hi, we are GreenRank. Before we show you anything, we wanted to show you our in-built quiz. Which company released more CO2 from its own US sites in 2023: Google, or PepsiCo?</a:t>
            </a:r>
          </a:p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DF278-BEA7-CCEC-213A-998C64C45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US" altLang="zh-CN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308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PepsiCo, sixteen times more. Google's data centres use a lot of power, but that CO2 comes out at the power plant. PepsiCo's factories burn gas on site.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US" altLang="zh-CN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59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/>
              <a:t>Last one. Whose US emissions went up between 2019 and 2023: Ford, or Tesla?</a:t>
            </a:r>
          </a:p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CH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642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CH"/>
              <a:t>Tesla, up 241 percent. It built new factories in Texas and Nevada. Ford closed old ones. Making electric cars still needs energy.</a:t>
            </a:r>
          </a:p>
          <a:p>
            <a:pPr rtl="0"/>
            <a:endParaRPr lang="en-CH"/>
          </a:p>
          <a:p>
            <a:pPr rtl="0"/>
            <a:r>
              <a:rPr lang="en-CH"/>
              <a:t>If you got one wrong, you are in good company. Intuition fails here, and so does most of the market's. You need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CH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6066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02FA-76B8-D47E-177A-771C95A5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CB15-26AD-B998-2EB8-D6C51EDFE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034BE-3FBD-6F12-4E1F-5720463C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And if you are an independent investor who wants a greener portfolio, this is the data you get today: a black box built from questionnaires, sold by subscription. And the big raters disagree with each other about half the time. We wanted a score anyone can check, built on data companies cannot opt out of.</a:t>
            </a:r>
            <a:endParaRPr lang="en-CH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CBCFF-998F-DA0A-E924-4975963BC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09799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/>
              <a:t>Our definition of a sustainable company is one that can keep its business in a world that prices carbon and enforces the law.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CH"/>
            </a:br>
            <a:r>
              <a:rPr lang="en-CH"/>
              <a:t>Our anchor dataset is the </a:t>
            </a:r>
            <a:r>
              <a:rPr lang="en-CH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Environmental Protection Agency’s</a:t>
            </a:r>
            <a:r>
              <a:rPr lang="en-CH"/>
              <a:t> Greenhouse Gas Reporting Program. Every US site above 25,000 tonnes must report by law, and it is audited.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/>
              <a:t>We join it to financials and ratings, and get metrics for the S&amp;P 500 companies.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/>
              <a:t>To compute a final score, we rank each metric inside its sector, average the ranks into four pillars, and finally weight the pillars to compute a final score.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/>
              <a:t>This ensures that a bank is never compared with a power company based only on raw emissions.</a:t>
            </a:r>
            <a:endParaRPr lang="en-CH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CH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39416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S&amp;P 500, sized by market value. Now sized by CO2 emissions. The picture inverts. Thirty companies hold 85 percent of direct emissions, but only five percent of the index's value.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CH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9735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CH"/>
              <a:t>Imagine a new law passes tomorrow. Every tonne of CO2 costs 150 dollars. You have one billion dollars in the S&amp;P 500. What do you change?</a:t>
            </a:r>
          </a:p>
          <a:p>
            <a:pPr rtl="0"/>
            <a:endParaRPr lang="en-CH"/>
          </a:p>
          <a:p>
            <a:pPr rtl="0"/>
            <a:r>
              <a:rPr lang="en-CH"/>
              <a:t>Less than you think. The carbon bill lands on the same thirty companies. Ten of them lose their entire operating profit. The other 470 barely notice.</a:t>
            </a:r>
          </a:p>
          <a:p>
            <a:pPr rtl="0"/>
            <a:endParaRPr lang="en-CH"/>
          </a:p>
          <a:p>
            <a:pPr rtl="0"/>
            <a:r>
              <a:rPr lang="en-CH"/>
              <a:t>So we keep the index and shrink those thirty. Emissions per dollar fall 83 percent. Profit at risk falls five-fold. Only 42 million of your billion moves.</a:t>
            </a:r>
          </a:p>
          <a:p>
            <a:pPr rtl="0"/>
            <a:endParaRPr lang="en-CH"/>
          </a:p>
          <a:p>
            <a:pPr rtl="0"/>
            <a:r>
              <a:rPr lang="en-CH"/>
              <a:t>And the losers are not who you expect. The biggest oil company loses 8 percent of its profit. The biggest wind and solar company loses 44 percent. Why? Because it also runs gas power plants.</a:t>
            </a:r>
          </a:p>
          <a:p>
            <a:pPr rtl="0"/>
            <a:endParaRPr lang="en-CH"/>
          </a:p>
          <a:p>
            <a:pPr rtl="0"/>
            <a:r>
              <a:rPr lang="en-CH"/>
              <a:t>Remember, a carbon tax hits the company that burns the fuel, not the one that sells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rPr lang="en-CH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98971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CH"/>
              <a:t>One price for every company is a simplification. In reality, carbon prices differ by place. California already prices carbon. Most states do not.</a:t>
            </a:r>
          </a:p>
          <a:p>
            <a:pPr rtl="0"/>
            <a:endParaRPr lang="en-CH"/>
          </a:p>
          <a:p>
            <a:pPr rtl="0"/>
            <a:r>
              <a:rPr lang="en-CH"/>
              <a:t>This globe shows where each company is based, and the carbon emissions.</a:t>
            </a:r>
          </a:p>
          <a:p>
            <a:pPr rtl="0"/>
            <a:endParaRPr lang="en-CH"/>
          </a:p>
          <a:p>
            <a:pPr rtl="0"/>
            <a:r>
              <a:rPr lang="en-CH"/>
              <a:t>So the next step is a carbon price per state. Each plant pays the price of the state it stands in, and the fund updates.</a:t>
            </a:r>
          </a:p>
          <a:p>
            <a:pPr rtl="0"/>
            <a:endParaRPr lang="en-CH"/>
          </a:p>
          <a:p>
            <a:pPr rtl="0"/>
            <a:r>
              <a:rPr lang="en-CH"/>
              <a:t>A high-emission state can set a higher price, and we can show what that does to your portfolio.</a:t>
            </a:r>
          </a:p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16819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CH"/>
              <a:t>That result rests on one number: CO2 from a company's own sites. So here is what our model does not know.</a:t>
            </a:r>
          </a:p>
          <a:p>
            <a:pPr rtl="0"/>
            <a:endParaRPr lang="en-CH"/>
          </a:p>
          <a:p>
            <a:pPr rtl="0"/>
            <a:r>
              <a:rPr lang="en-CH"/>
              <a:t>One: US sites only. A company with no big US site shows zero emissions. That zero is a gap in our data, not a result.</a:t>
            </a:r>
          </a:p>
          <a:p>
            <a:pPr rtl="0"/>
            <a:endParaRPr lang="en-CH"/>
          </a:p>
          <a:p>
            <a:pPr rtl="0"/>
            <a:r>
              <a:rPr lang="en-CH"/>
              <a:t>Two: no supply chain. For banks and retailers, the supply chain is most of the real footprint. That is why the oil company looks fine.</a:t>
            </a:r>
          </a:p>
          <a:p>
            <a:pPr rtl="0"/>
            <a:endParaRPr lang="en-CH"/>
          </a:p>
          <a:p>
            <a:pPr rtl="0"/>
            <a:r>
              <a:rPr lang="en-CH"/>
              <a:t>Three: sector ranking hides the absolute picture. The best-ranked utility still emits more than the worst-ranked bank.</a:t>
            </a:r>
          </a:p>
          <a:p>
            <a:pPr rtl="0"/>
            <a:endParaRPr lang="en-CH"/>
          </a:p>
          <a:p>
            <a:pPr rtl="0"/>
            <a:r>
              <a:rPr lang="en-CH"/>
              <a:t>Four: mixed years. Ratings from 2024, emissions from 2023, prices from this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9074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6E0C-5CAB-4FD8-4FAB-757E3D04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0A9D8-066C-5DE2-C38C-2582135EF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2D627-2A31-F580-2A53-13419103D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CH"/>
              <a:t>Those were the gaps. Here is why GreenRank still survives Monday.</a:t>
            </a:r>
          </a:p>
          <a:p>
            <a:pPr rtl="0"/>
            <a:endParaRPr lang="en-CH"/>
          </a:p>
          <a:p>
            <a:pPr rtl="0"/>
            <a:r>
              <a:rPr lang="en-CH"/>
              <a:t>It is a free site: no keys, no server, no cost. It runs from a laptop or a free web page.</a:t>
            </a:r>
          </a:p>
          <a:p>
            <a:pPr rtl="0"/>
            <a:endParaRPr lang="en-CH"/>
          </a:p>
          <a:p>
            <a:pPr rtl="0"/>
            <a:r>
              <a:rPr lang="en-CH"/>
              <a:t>The main data is a legal filing. Companies cannot opt out, and its published annually.</a:t>
            </a:r>
          </a:p>
          <a:p>
            <a:pPr rtl="0"/>
            <a:endParaRPr lang="en-CH"/>
          </a:p>
          <a:p>
            <a:pPr rtl="0"/>
            <a:r>
              <a:rPr lang="en-CH"/>
              <a:t>Free, transparent, and built on what companies already must disclose. Try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46339-CBA6-4266-DCA5-01922C9F3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0976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BD41-BEE5-F675-B77D-C52908A75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6E568-A0BA-B3FA-0BE9-F1CF53FC0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9FC8E-3A1D-8766-6314-E31B396E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747D6-7859-5E4A-BFD3-6854CD0AE2F8}" type="datetime1">
              <a:t>13.09.2026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9559E-B089-5E0B-07EF-D2CE77A9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79DB6-165A-E93B-83F6-CE604182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4437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2926-11A9-8AE1-4266-46B4F36F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96DC-469C-A950-E45B-CDB1B65D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EC15-5CA3-4A54-AF04-747D7E43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8D181-4C4D-9647-BF44-3722CAD068FF}" type="datetime1">
              <a:t>13.09.2026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927FC-65AA-ED15-4412-FD71BBEF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83C0-1119-B890-F460-CE7EAAF8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3DED65-B436-E6BB-1727-874342BDAF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3260" y="-121443"/>
            <a:ext cx="1178740" cy="11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16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AA5D-D072-2C1E-2F24-4B4B0115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4C32E-1E38-5A25-E098-1050D6B5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92CB-E56B-AF95-FE60-861991A3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4528-686D-834E-A69D-E9413B7EC8B5}" type="datetime1">
              <a:t>13.09.2026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D0DD-21C7-EC3B-6162-2061252B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E889-FC2B-EF8E-BFCB-F6282314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82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9829-1B47-E9A1-BD8D-258E76A8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C106E-DF80-0726-D153-091BB1D7A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49AE0-1297-51C2-A4DD-EAA5B1147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C7528-C768-C432-0795-79FD3B37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2F0C6-453A-F94E-B642-71CF39BA2475}" type="datetime1">
              <a:t>13.09.2026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149B8-15AF-B339-5E69-387B3F23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43189-5C51-1EAE-7F12-90305D1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8105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B7BE-DE86-E63E-B7FF-3E1999481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55CD2-E714-97C1-1F68-C149BC9B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F4750-5554-03D8-65CB-867D99367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40F1C-D87B-1036-07A3-549B33C18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7E44F-248A-A070-FE8C-BDD1FD79E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74C4A-BBB5-B045-DC5D-0ACD2900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91D3-4C64-0E44-B9C8-7190D4971372}" type="datetime1">
              <a:t>13.09.2026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B13BE-E16F-5153-5AB7-66707C63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26A0E-12C8-F1F5-42C8-C270F744C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5808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5495-279A-A468-3FCC-43C74EDA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285A4-C49F-FA23-DB1B-15DC199C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B72E-512C-5248-B559-847D9C444FBF}" type="datetime1">
              <a:t>13.09.2026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2AD36-9CB5-87C8-52C0-BF6E7C0C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6043E-CF2A-E863-AC3E-0F08905B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019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B284E-7014-0A7A-7778-1D1DCC74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B603-E793-DF4B-B5F3-9C3AEF6BF25B}" type="datetime1">
              <a:t>13.09.2026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0687B-AD4E-CE10-4FCE-DBE43A92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3E3E-BD81-CA89-5F36-9A9D3C50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092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4ABD-9B28-EAB2-3A73-6F11D605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CC497-84FF-29D0-ED48-398A76236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6A66B-7552-2D09-B738-C8457F7DA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E065F-C4EE-DC6B-8C72-E1A69EB9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30DB2-16F1-544C-85D5-F6F0E978C04C}" type="datetime1">
              <a:t>13.09.2026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4C08A-0D86-CE47-26F7-9C45FB16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95982-FF07-179D-8E01-E5C5C12E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228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3914-5CD5-2664-3F44-8E6C6AAA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F0496-0D6A-F4EC-4BD3-DAE78C513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4188C-F85D-7957-1010-59F7E267B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A0A57-16D9-7F43-1766-D9E137FF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60C5-97BE-2540-B4EB-1EEE09479885}" type="datetime1">
              <a:t>13.09.2026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98ED7-6021-0825-C9CA-4862739D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0FA15-FDB8-6793-D504-2F0D94CC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3038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BAC9-BA98-CF2F-9C89-4027525A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32CD-8754-EFDA-2215-6ECEADB73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18DB-9750-AC28-CBAC-D2A7C800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71D7-1595-9C41-862D-ADB979EB1FA7}" type="datetime1">
              <a:t>13.09.2026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4C779-DA0B-B7A5-0EDA-E0809EF7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A0903-A323-C39D-5AC3-2B468BBD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770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05830-681F-FEFE-582D-CD5664327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BDABD-C1DC-4A97-70E2-DF0637849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6BD14-5A02-537C-C767-B0F925D6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D2E4-FE7C-C348-AC97-7B2AA2CFDFF5}" type="datetime1">
              <a:t>13.09.2026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990CE-20F2-C963-B58E-583B5F5B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D2297-73F7-F2E8-2FEB-4D2448FA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0849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6D41E-A919-18C8-763A-D0E58223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B1B8C-E627-55C2-134D-0E136DB72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B0B41-8997-490E-A10E-EFAB59E7F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F1DE1-D284-8741-A3E9-BD96EEFBC222}" type="datetime1">
              <a:t>13.09.2026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7C0EF-982C-E701-3760-251EC7868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51CFA-EEDE-102C-E912-F39397DD9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99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0773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6D0C-8C4E-4485-D3F2-F1101976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2AE2FB1-B9D9-4FB6-5B03-5217F3DB8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灯片编号占位符 3" hidden="1">
            <a:extLst>
              <a:ext uri="{FF2B5EF4-FFF2-40B4-BE49-F238E27FC236}">
                <a16:creationId xmlns:a16="http://schemas.microsoft.com/office/drawing/2014/main" id="{87164827-9C36-338B-8005-58874457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30E1991-2E23-C749-8954-349C944DF38F}" type="slidenum">
              <a:rPr lang="en-US" altLang="zh-CN" smtClean="0"/>
              <a:pPr>
                <a:spcAft>
                  <a:spcPts val="600"/>
                </a:spcAft>
              </a:pPr>
              <a:t>1</a:t>
            </a:fld>
            <a:endParaRPr lang="zh-CN" altLang="en-US"/>
          </a:p>
        </p:txBody>
      </p:sp>
      <p:pic>
        <p:nvPicPr>
          <p:cNvPr id="2" name="图片 7">
            <a:extLst>
              <a:ext uri="{FF2B5EF4-FFF2-40B4-BE49-F238E27FC236}">
                <a16:creationId xmlns:a16="http://schemas.microsoft.com/office/drawing/2014/main" id="{D99F4889-B75C-EB42-1FF2-94A92F2BB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60" y="-121443"/>
            <a:ext cx="1178740" cy="1178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AFE491-E784-693F-610D-CF4E9F6D3CE5}"/>
              </a:ext>
            </a:extLst>
          </p:cNvPr>
          <p:cNvSpPr txBox="1"/>
          <p:nvPr/>
        </p:nvSpPr>
        <p:spPr>
          <a:xfrm>
            <a:off x="11164233" y="809418"/>
            <a:ext cx="87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>
                <a:solidFill>
                  <a:schemeClr val="bg1"/>
                </a:solidFill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400945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6C1D5C-62A6-5112-FA8D-255E7C845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灯片编号占位符 3" hidden="1">
            <a:extLst>
              <a:ext uri="{FF2B5EF4-FFF2-40B4-BE49-F238E27FC236}">
                <a16:creationId xmlns:a16="http://schemas.microsoft.com/office/drawing/2014/main" id="{12C572C0-2B7E-DC52-EEB3-8FF10ABA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30E1991-2E23-C749-8954-349C944DF38F}" type="slidenum">
              <a:rPr lang="en-US" altLang="zh-CN" smtClean="0"/>
              <a:pPr>
                <a:spcAft>
                  <a:spcPts val="600"/>
                </a:spcAft>
              </a:pPr>
              <a:t>2</a:t>
            </a:fld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79AFE28-9599-DDCB-9254-87A964B559AE}"/>
              </a:ext>
            </a:extLst>
          </p:cNvPr>
          <p:cNvSpPr/>
          <p:nvPr/>
        </p:nvSpPr>
        <p:spPr>
          <a:xfrm>
            <a:off x="2626660" y="4607859"/>
            <a:ext cx="6928000" cy="798154"/>
          </a:xfrm>
          <a:prstGeom prst="roundRect">
            <a:avLst/>
          </a:prstGeom>
          <a:solidFill>
            <a:srgbClr val="0B8222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Rechteck: abgerundete Ecken 19">
            <a:extLst>
              <a:ext uri="{FF2B5EF4-FFF2-40B4-BE49-F238E27FC236}">
                <a16:creationId xmlns:a16="http://schemas.microsoft.com/office/drawing/2014/main" id="{4E90FCF6-8B8A-13FE-768C-C4BE077724A5}"/>
              </a:ext>
            </a:extLst>
          </p:cNvPr>
          <p:cNvSpPr/>
          <p:nvPr/>
        </p:nvSpPr>
        <p:spPr>
          <a:xfrm>
            <a:off x="2100099" y="131230"/>
            <a:ext cx="7981121" cy="229026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0" tIns="360000" rIns="360000" bIns="360000" rtlCol="0" anchor="ctr"/>
          <a:lstStyle/>
          <a:p>
            <a:r>
              <a:rPr lang="en-US" b="1" noProof="0"/>
              <a:t>Alphabet Inc.</a:t>
            </a:r>
            <a:r>
              <a:rPr lang="en-US" noProof="0"/>
              <a:t>: 0.02 million </a:t>
            </a:r>
            <a:r>
              <a:rPr lang="en-US" noProof="0" err="1"/>
              <a:t>tonnes</a:t>
            </a:r>
            <a:r>
              <a:rPr lang="en-US" noProof="0"/>
              <a:t> CO2e. </a:t>
            </a:r>
          </a:p>
          <a:p>
            <a:r>
              <a:rPr lang="en-US" b="1" noProof="0"/>
              <a:t>PepsiCo, Inc.: </a:t>
            </a:r>
            <a:r>
              <a:rPr lang="en-US" noProof="0"/>
              <a:t>0.32 million </a:t>
            </a:r>
            <a:r>
              <a:rPr lang="en-US" noProof="0" err="1"/>
              <a:t>tonnes</a:t>
            </a:r>
            <a:r>
              <a:rPr lang="en-US" noProof="0"/>
              <a:t> CO2e.</a:t>
            </a:r>
          </a:p>
          <a:p>
            <a:endParaRPr lang="en-US"/>
          </a:p>
          <a:p>
            <a:r>
              <a:rPr lang="en-US" noProof="0"/>
              <a:t>Data </a:t>
            </a:r>
            <a:r>
              <a:rPr lang="en-US" noProof="0" err="1"/>
              <a:t>centres</a:t>
            </a:r>
            <a:r>
              <a:rPr lang="en-US" noProof="0"/>
              <a:t> use a lot of electricity, but that CO2 is released at the power plant, not at Google's site. </a:t>
            </a:r>
          </a:p>
          <a:p>
            <a:r>
              <a:rPr lang="en-US" noProof="0"/>
              <a:t>PepsiCo runs bottling plants and snack factories that burn gas on site.</a:t>
            </a:r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2" name="图片 7">
            <a:extLst>
              <a:ext uri="{FF2B5EF4-FFF2-40B4-BE49-F238E27FC236}">
                <a16:creationId xmlns:a16="http://schemas.microsoft.com/office/drawing/2014/main" id="{44102F24-48A4-95C1-554C-EDBE4804F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60" y="-121443"/>
            <a:ext cx="1178740" cy="1178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443464-25FF-C030-1EF9-4D1E963E3520}"/>
              </a:ext>
            </a:extLst>
          </p:cNvPr>
          <p:cNvSpPr txBox="1"/>
          <p:nvPr/>
        </p:nvSpPr>
        <p:spPr>
          <a:xfrm>
            <a:off x="11164233" y="809418"/>
            <a:ext cx="87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>
                <a:solidFill>
                  <a:schemeClr val="bg1"/>
                </a:solidFill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299377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C1C9B2-771B-58A3-8FFD-98A364F08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灯片编号占位符 3" hidden="1">
            <a:extLst>
              <a:ext uri="{FF2B5EF4-FFF2-40B4-BE49-F238E27FC236}">
                <a16:creationId xmlns:a16="http://schemas.microsoft.com/office/drawing/2014/main" id="{0B3B11A4-5D96-CAFD-30B1-3B72B894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30E1991-2E23-C749-8954-349C944DF38F}" type="slidenum">
              <a:rPr lang="en-US" altLang="zh-CN" smtClean="0"/>
              <a:pPr>
                <a:spcAft>
                  <a:spcPts val="600"/>
                </a:spcAft>
              </a:pPr>
              <a:t>3</a:t>
            </a:fld>
            <a:endParaRPr lang="zh-CN" altLang="en-US"/>
          </a:p>
        </p:txBody>
      </p:sp>
      <p:pic>
        <p:nvPicPr>
          <p:cNvPr id="2" name="图片 7">
            <a:extLst>
              <a:ext uri="{FF2B5EF4-FFF2-40B4-BE49-F238E27FC236}">
                <a16:creationId xmlns:a16="http://schemas.microsoft.com/office/drawing/2014/main" id="{E4734509-F607-5BA0-A7C6-77D5F18BC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60" y="-121443"/>
            <a:ext cx="1178740" cy="1178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4A62D0-FA03-5F0F-D077-0596E3D05A8C}"/>
              </a:ext>
            </a:extLst>
          </p:cNvPr>
          <p:cNvSpPr txBox="1"/>
          <p:nvPr/>
        </p:nvSpPr>
        <p:spPr>
          <a:xfrm>
            <a:off x="11164233" y="809418"/>
            <a:ext cx="87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>
                <a:solidFill>
                  <a:schemeClr val="bg1"/>
                </a:solidFill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410045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D4668-2E8F-F854-8B07-4B917859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64BE54-88A5-D34C-49B7-51B59EE8E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灯片编号占位符 3" hidden="1">
            <a:extLst>
              <a:ext uri="{FF2B5EF4-FFF2-40B4-BE49-F238E27FC236}">
                <a16:creationId xmlns:a16="http://schemas.microsoft.com/office/drawing/2014/main" id="{863F9556-7024-37CC-0167-1CED2601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30E1991-2E23-C749-8954-349C944DF38F}" type="slidenum">
              <a:rPr lang="en-US" altLang="zh-CN" smtClean="0"/>
              <a:pPr>
                <a:spcAft>
                  <a:spcPts val="600"/>
                </a:spcAft>
              </a:pPr>
              <a:t>4</a:t>
            </a:fld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C97FB96-FE36-8418-8386-3EF5CB218342}"/>
              </a:ext>
            </a:extLst>
          </p:cNvPr>
          <p:cNvSpPr/>
          <p:nvPr/>
        </p:nvSpPr>
        <p:spPr>
          <a:xfrm>
            <a:off x="2626660" y="4607859"/>
            <a:ext cx="6928000" cy="798154"/>
          </a:xfrm>
          <a:prstGeom prst="roundRect">
            <a:avLst/>
          </a:prstGeom>
          <a:solidFill>
            <a:srgbClr val="0B8222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Rechteck: abgerundete Ecken 19">
            <a:extLst>
              <a:ext uri="{FF2B5EF4-FFF2-40B4-BE49-F238E27FC236}">
                <a16:creationId xmlns:a16="http://schemas.microsoft.com/office/drawing/2014/main" id="{24DB9002-AD6D-26FB-10F9-F88090B0CA05}"/>
              </a:ext>
            </a:extLst>
          </p:cNvPr>
          <p:cNvSpPr/>
          <p:nvPr/>
        </p:nvSpPr>
        <p:spPr>
          <a:xfrm>
            <a:off x="2100099" y="131230"/>
            <a:ext cx="7981121" cy="229026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0" tIns="360000" rIns="360000" bIns="360000" rtlCol="0" anchor="ctr"/>
          <a:lstStyle/>
          <a:p>
            <a:r>
              <a:rPr lang="en-US" b="1"/>
              <a:t>Tesla, Inc.: </a:t>
            </a:r>
            <a:r>
              <a:rPr lang="en-US"/>
              <a:t>+241% since 2019. </a:t>
            </a:r>
          </a:p>
          <a:p>
            <a:r>
              <a:rPr lang="en-US" b="1"/>
              <a:t>Ford Motor Company</a:t>
            </a:r>
            <a:r>
              <a:rPr lang="en-US"/>
              <a:t>: -20.4% since 2019.</a:t>
            </a:r>
          </a:p>
          <a:p>
            <a:endParaRPr lang="en-US"/>
          </a:p>
          <a:p>
            <a:r>
              <a:rPr lang="en-US"/>
              <a:t>Tesla built new factories in Texas and Nevada. </a:t>
            </a:r>
          </a:p>
          <a:p>
            <a:r>
              <a:rPr lang="en-US"/>
              <a:t>Ford closed and cleaned up old ones. Making electric cars still needs energy.</a:t>
            </a:r>
          </a:p>
        </p:txBody>
      </p:sp>
      <p:pic>
        <p:nvPicPr>
          <p:cNvPr id="6" name="图片 7">
            <a:extLst>
              <a:ext uri="{FF2B5EF4-FFF2-40B4-BE49-F238E27FC236}">
                <a16:creationId xmlns:a16="http://schemas.microsoft.com/office/drawing/2014/main" id="{FA6A65C5-8BED-88AC-7DD5-49E6C24F4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60" y="-121443"/>
            <a:ext cx="1178740" cy="1178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D08072-E0EA-C809-8B60-C091DDB28910}"/>
              </a:ext>
            </a:extLst>
          </p:cNvPr>
          <p:cNvSpPr txBox="1"/>
          <p:nvPr/>
        </p:nvSpPr>
        <p:spPr>
          <a:xfrm>
            <a:off x="11164233" y="809418"/>
            <a:ext cx="87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>
                <a:solidFill>
                  <a:schemeClr val="bg1"/>
                </a:solidFill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91738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BD91E-7257-CBB4-0721-7F990C16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94CFA-9B13-4EC0-1B35-E54FDEF4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rPr lang="en-CH"/>
              <a:t>5</a:t>
            </a:fld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8F4CA-A320-D65E-84BA-34361CD3AD9A}"/>
              </a:ext>
            </a:extLst>
          </p:cNvPr>
          <p:cNvSpPr txBox="1"/>
          <p:nvPr/>
        </p:nvSpPr>
        <p:spPr>
          <a:xfrm>
            <a:off x="450166" y="124623"/>
            <a:ext cx="11016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4400"/>
              <a:t>Today’s sustainability ratings:</a:t>
            </a:r>
            <a:br>
              <a:rPr lang="en-CH" sz="4400"/>
            </a:br>
            <a:r>
              <a:rPr lang="en-CH" sz="4400" b="1"/>
              <a:t>Overpriced</a:t>
            </a:r>
            <a:r>
              <a:rPr lang="en-CH" sz="4400"/>
              <a:t>, </a:t>
            </a:r>
            <a:r>
              <a:rPr lang="en-CH" sz="4400" b="1"/>
              <a:t>opaque</a:t>
            </a:r>
            <a:r>
              <a:rPr lang="en-CH" sz="4400"/>
              <a:t>, and </a:t>
            </a:r>
            <a:r>
              <a:rPr lang="en-CH" sz="4400" b="1"/>
              <a:t>inconsistent</a:t>
            </a:r>
            <a:r>
              <a:rPr lang="en-CH" sz="4400"/>
              <a:t>.</a:t>
            </a:r>
            <a:endParaRPr lang="en-CH" sz="4300">
              <a:latin typeface="+mj-lt"/>
            </a:endParaRPr>
          </a:p>
        </p:txBody>
      </p:sp>
      <p:pic>
        <p:nvPicPr>
          <p:cNvPr id="10" name="Picture 9" descr="chart-anatomy-sp-esg-score">
            <a:extLst>
              <a:ext uri="{FF2B5EF4-FFF2-40B4-BE49-F238E27FC236}">
                <a16:creationId xmlns:a16="http://schemas.microsoft.com/office/drawing/2014/main" id="{6D51CEE0-7C56-4128-3D4F-99857FDDD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253" y="1872685"/>
            <a:ext cx="6554692" cy="4035231"/>
          </a:xfrm>
          <a:prstGeom prst="rect">
            <a:avLst/>
          </a:prstGeom>
        </p:spPr>
      </p:pic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46BD7D8D-642C-F547-830D-300437569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575"/>
              </p:ext>
            </p:extLst>
          </p:nvPr>
        </p:nvGraphicFramePr>
        <p:xfrm>
          <a:off x="347134" y="1931784"/>
          <a:ext cx="4858990" cy="3917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3950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44C269-BF20-7E75-1C57-0AF04FAA3A43}"/>
              </a:ext>
            </a:extLst>
          </p:cNvPr>
          <p:cNvSpPr/>
          <p:nvPr/>
        </p:nvSpPr>
        <p:spPr>
          <a:xfrm>
            <a:off x="450166" y="1571174"/>
            <a:ext cx="9683185" cy="69996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ABA75-96CC-7386-CCEB-D27A3766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rPr lang="en-CH"/>
              <a:t>6</a:t>
            </a:fld>
            <a:endParaRPr lang="en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7E0BA-931B-392F-F6C0-77B2FDE23C21}"/>
              </a:ext>
            </a:extLst>
          </p:cNvPr>
          <p:cNvSpPr txBox="1"/>
          <p:nvPr/>
        </p:nvSpPr>
        <p:spPr>
          <a:xfrm>
            <a:off x="450166" y="124623"/>
            <a:ext cx="11016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4400"/>
              <a:t>What </a:t>
            </a:r>
            <a:r>
              <a:rPr lang="en-CH" sz="4400" b="1" i="1"/>
              <a:t>“sustainable”</a:t>
            </a:r>
            <a:r>
              <a:rPr lang="en-CH" sz="4400" b="1"/>
              <a:t> </a:t>
            </a:r>
            <a:r>
              <a:rPr lang="en-CH" sz="4400"/>
              <a:t>means, and</a:t>
            </a:r>
          </a:p>
          <a:p>
            <a:r>
              <a:rPr lang="en-CH" sz="4400" b="1"/>
              <a:t>where</a:t>
            </a:r>
            <a:r>
              <a:rPr lang="en-CH" sz="4400"/>
              <a:t> the </a:t>
            </a:r>
            <a:r>
              <a:rPr lang="en-CH" sz="4400" b="1"/>
              <a:t>data</a:t>
            </a:r>
            <a:r>
              <a:rPr lang="en-CH" sz="4400"/>
              <a:t> </a:t>
            </a:r>
            <a:r>
              <a:rPr lang="en-CH" sz="4400" b="1"/>
              <a:t>comes</a:t>
            </a:r>
            <a:r>
              <a:rPr lang="en-CH" sz="4400"/>
              <a:t> </a:t>
            </a:r>
            <a:r>
              <a:rPr lang="en-CH" sz="4400" b="1"/>
              <a:t>from</a:t>
            </a:r>
            <a:endParaRPr lang="en-CH" sz="4300" b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FD8EE-029B-4B5B-92FF-23BD19BC2F43}"/>
              </a:ext>
            </a:extLst>
          </p:cNvPr>
          <p:cNvSpPr txBox="1"/>
          <p:nvPr/>
        </p:nvSpPr>
        <p:spPr>
          <a:xfrm>
            <a:off x="450166" y="1597990"/>
            <a:ext cx="968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/>
              <a:t>A </a:t>
            </a:r>
            <a:r>
              <a:rPr lang="en-CH" b="1"/>
              <a:t>company is sustainable</a:t>
            </a:r>
            <a:r>
              <a:rPr lang="en-CH"/>
              <a:t> when it can </a:t>
            </a:r>
            <a:r>
              <a:rPr lang="en-CH" b="1"/>
              <a:t>keep its business </a:t>
            </a:r>
            <a:r>
              <a:rPr lang="en-CH"/>
              <a:t>in a world that </a:t>
            </a:r>
            <a:r>
              <a:rPr lang="en-CH" b="1"/>
              <a:t>puts a price on carbon</a:t>
            </a:r>
            <a:r>
              <a:rPr lang="en-CH"/>
              <a:t>, </a:t>
            </a:r>
            <a:r>
              <a:rPr lang="en-CH" b="1"/>
              <a:t>enforces labour and safety law, </a:t>
            </a:r>
            <a:r>
              <a:rPr lang="en-CH"/>
              <a:t>and </a:t>
            </a:r>
            <a:r>
              <a:rPr lang="en-CH" b="1"/>
              <a:t>holds the board responsible</a:t>
            </a:r>
            <a:r>
              <a:rPr lang="en-CH"/>
              <a:t>.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1A144E2-72B1-16CD-FE3F-2F5F486A44D0}"/>
              </a:ext>
            </a:extLst>
          </p:cNvPr>
          <p:cNvGrpSpPr/>
          <p:nvPr/>
        </p:nvGrpSpPr>
        <p:grpSpPr>
          <a:xfrm>
            <a:off x="460693" y="4483938"/>
            <a:ext cx="1660796" cy="1283732"/>
            <a:chOff x="460693" y="3430060"/>
            <a:chExt cx="1660796" cy="1283732"/>
          </a:xfrm>
        </p:grpSpPr>
        <p:pic>
          <p:nvPicPr>
            <p:cNvPr id="16" name="Graphic 15" descr="Greek Pillar outline">
              <a:extLst>
                <a:ext uri="{FF2B5EF4-FFF2-40B4-BE49-F238E27FC236}">
                  <a16:creationId xmlns:a16="http://schemas.microsoft.com/office/drawing/2014/main" id="{F2CCED5E-8146-BF07-AB6D-1C96920731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3799392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053872-0B22-620A-BE72-3A953F8E7C73}"/>
                </a:ext>
              </a:extLst>
            </p:cNvPr>
            <p:cNvSpPr txBox="1"/>
            <p:nvPr/>
          </p:nvSpPr>
          <p:spPr>
            <a:xfrm>
              <a:off x="460693" y="3430060"/>
              <a:ext cx="16607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 b="1"/>
                <a:t>Financial</a:t>
              </a:r>
              <a:endParaRPr lang="en-GB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8690C8C-AC68-8A58-B071-7F6A52CB1057}"/>
              </a:ext>
            </a:extLst>
          </p:cNvPr>
          <p:cNvGrpSpPr/>
          <p:nvPr/>
        </p:nvGrpSpPr>
        <p:grpSpPr>
          <a:xfrm>
            <a:off x="2763494" y="4483938"/>
            <a:ext cx="1660796" cy="1283732"/>
            <a:chOff x="3263856" y="3430060"/>
            <a:chExt cx="1660796" cy="1283732"/>
          </a:xfrm>
        </p:grpSpPr>
        <p:pic>
          <p:nvPicPr>
            <p:cNvPr id="17" name="Graphic 16" descr="Greek Pillar outline">
              <a:extLst>
                <a:ext uri="{FF2B5EF4-FFF2-40B4-BE49-F238E27FC236}">
                  <a16:creationId xmlns:a16="http://schemas.microsoft.com/office/drawing/2014/main" id="{E416EF8E-9F31-1CA0-A244-470A140661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4356" y="3799392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9ED23A-71FC-77D9-38A9-56D282A8F6EC}"/>
                </a:ext>
              </a:extLst>
            </p:cNvPr>
            <p:cNvSpPr txBox="1"/>
            <p:nvPr/>
          </p:nvSpPr>
          <p:spPr>
            <a:xfrm>
              <a:off x="3263856" y="3430060"/>
              <a:ext cx="16607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 b="1"/>
                <a:t>Environment</a:t>
              </a:r>
              <a:endParaRPr lang="en-GB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7B3EC09-AF3E-0BBC-15F3-A159596F6E3A}"/>
              </a:ext>
            </a:extLst>
          </p:cNvPr>
          <p:cNvGrpSpPr/>
          <p:nvPr/>
        </p:nvGrpSpPr>
        <p:grpSpPr>
          <a:xfrm>
            <a:off x="7369097" y="4483938"/>
            <a:ext cx="1660796" cy="1283732"/>
            <a:chOff x="7369097" y="3430060"/>
            <a:chExt cx="1660796" cy="1283732"/>
          </a:xfrm>
        </p:grpSpPr>
        <p:pic>
          <p:nvPicPr>
            <p:cNvPr id="18" name="Graphic 17" descr="Greek Pillar outline">
              <a:extLst>
                <a:ext uri="{FF2B5EF4-FFF2-40B4-BE49-F238E27FC236}">
                  <a16:creationId xmlns:a16="http://schemas.microsoft.com/office/drawing/2014/main" id="{5D33E722-62B5-1114-E49B-82D302F967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42295" y="3799392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B69A93-254D-AE12-30E2-E9075205AC7F}"/>
                </a:ext>
              </a:extLst>
            </p:cNvPr>
            <p:cNvSpPr txBox="1"/>
            <p:nvPr/>
          </p:nvSpPr>
          <p:spPr>
            <a:xfrm>
              <a:off x="7369097" y="3430060"/>
              <a:ext cx="16607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CH" b="1"/>
                <a:t>Governance</a:t>
              </a:r>
              <a:endParaRPr lang="en-GB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277B476-2126-C9D7-18E6-B00B588DB5DF}"/>
              </a:ext>
            </a:extLst>
          </p:cNvPr>
          <p:cNvGrpSpPr/>
          <p:nvPr/>
        </p:nvGrpSpPr>
        <p:grpSpPr>
          <a:xfrm>
            <a:off x="5066295" y="4483938"/>
            <a:ext cx="1660796" cy="1283732"/>
            <a:chOff x="6024475" y="3430060"/>
            <a:chExt cx="1660796" cy="1283732"/>
          </a:xfrm>
        </p:grpSpPr>
        <p:pic>
          <p:nvPicPr>
            <p:cNvPr id="19" name="Graphic 18" descr="Greek Pillar outline">
              <a:extLst>
                <a:ext uri="{FF2B5EF4-FFF2-40B4-BE49-F238E27FC236}">
                  <a16:creationId xmlns:a16="http://schemas.microsoft.com/office/drawing/2014/main" id="{D3365B97-9AE5-4CF7-DA71-75C03D52C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70512" y="3799392"/>
              <a:ext cx="914400" cy="9144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17B1015-2E9F-B85E-D89A-1F5D8FA9DDD0}"/>
                </a:ext>
              </a:extLst>
            </p:cNvPr>
            <p:cNvSpPr txBox="1"/>
            <p:nvPr/>
          </p:nvSpPr>
          <p:spPr>
            <a:xfrm>
              <a:off x="6024475" y="3430060"/>
              <a:ext cx="16607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 b="1"/>
                <a:t>Social</a:t>
              </a:r>
              <a:endParaRPr lang="en-GB"/>
            </a:p>
          </p:txBody>
        </p:sp>
      </p:grp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B8F112F-43EB-A2D3-9308-9AC90C6B3730}"/>
              </a:ext>
            </a:extLst>
          </p:cNvPr>
          <p:cNvSpPr/>
          <p:nvPr/>
        </p:nvSpPr>
        <p:spPr>
          <a:xfrm>
            <a:off x="3729151" y="6119545"/>
            <a:ext cx="2021757" cy="69996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CH" b="1"/>
              <a:t>Score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F1AFFEC-C3E6-4636-1758-9AC9C518A520}"/>
              </a:ext>
            </a:extLst>
          </p:cNvPr>
          <p:cNvCxnSpPr>
            <a:stCxn id="16" idx="2"/>
            <a:endCxn id="46" idx="0"/>
          </p:cNvCxnSpPr>
          <p:nvPr/>
        </p:nvCxnSpPr>
        <p:spPr>
          <a:xfrm rot="16200000" flipH="1">
            <a:off x="2841778" y="4221292"/>
            <a:ext cx="351875" cy="34446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A0740C9-0FA6-2D38-DB9E-6C67BA1963F0}"/>
              </a:ext>
            </a:extLst>
          </p:cNvPr>
          <p:cNvCxnSpPr>
            <a:cxnSpLocks/>
            <a:stCxn id="17" idx="2"/>
            <a:endCxn id="46" idx="0"/>
          </p:cNvCxnSpPr>
          <p:nvPr/>
        </p:nvCxnSpPr>
        <p:spPr>
          <a:xfrm rot="16200000" flipH="1">
            <a:off x="3974675" y="5354189"/>
            <a:ext cx="351875" cy="11788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A1477B0-7E2C-36D3-98FD-738AE9FE7A82}"/>
              </a:ext>
            </a:extLst>
          </p:cNvPr>
          <p:cNvCxnSpPr>
            <a:cxnSpLocks/>
            <a:stCxn id="19" idx="2"/>
            <a:endCxn id="46" idx="0"/>
          </p:cNvCxnSpPr>
          <p:nvPr/>
        </p:nvCxnSpPr>
        <p:spPr>
          <a:xfrm rot="5400000">
            <a:off x="5128844" y="5378856"/>
            <a:ext cx="351875" cy="1129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B27A179-C913-96B8-AA1D-D2256D0F26F5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rot="5400000">
            <a:off x="6293826" y="4213875"/>
            <a:ext cx="351875" cy="34594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E7DC605-E57C-AF00-CD1C-31B2F10DDC73}"/>
              </a:ext>
            </a:extLst>
          </p:cNvPr>
          <p:cNvGrpSpPr/>
          <p:nvPr/>
        </p:nvGrpSpPr>
        <p:grpSpPr>
          <a:xfrm>
            <a:off x="444269" y="3400830"/>
            <a:ext cx="8635896" cy="1046890"/>
            <a:chOff x="444269" y="2315951"/>
            <a:chExt cx="8635896" cy="104689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46D25AF-5DBC-04A9-D496-092C45928057}"/>
                </a:ext>
              </a:extLst>
            </p:cNvPr>
            <p:cNvSpPr txBox="1"/>
            <p:nvPr/>
          </p:nvSpPr>
          <p:spPr>
            <a:xfrm>
              <a:off x="462101" y="2315951"/>
              <a:ext cx="16607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>
                  <a:solidFill>
                    <a:schemeClr val="bg1">
                      <a:lumMod val="50000"/>
                    </a:schemeClr>
                  </a:solidFill>
                </a:rPr>
                <a:t>Market value</a:t>
              </a:r>
              <a:endParaRPr lang="en-GB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84EA410-680B-F3A2-69D3-153AFA77BF0A}"/>
                </a:ext>
              </a:extLst>
            </p:cNvPr>
            <p:cNvSpPr txBox="1"/>
            <p:nvPr/>
          </p:nvSpPr>
          <p:spPr>
            <a:xfrm>
              <a:off x="970130" y="2972863"/>
              <a:ext cx="16607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>
                  <a:solidFill>
                    <a:schemeClr val="bg1">
                      <a:lumMod val="50000"/>
                    </a:schemeClr>
                  </a:solidFill>
                </a:rPr>
                <a:t>Revenue</a:t>
              </a:r>
              <a:endParaRPr lang="en-GB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142280E-C6F2-BF64-B169-AFA98EFF8729}"/>
                </a:ext>
              </a:extLst>
            </p:cNvPr>
            <p:cNvSpPr txBox="1"/>
            <p:nvPr/>
          </p:nvSpPr>
          <p:spPr>
            <a:xfrm>
              <a:off x="444269" y="2737769"/>
              <a:ext cx="9854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>
                  <a:solidFill>
                    <a:schemeClr val="bg1">
                      <a:lumMod val="50000"/>
                    </a:schemeClr>
                  </a:solidFill>
                </a:rPr>
                <a:t>EBITDA</a:t>
              </a:r>
              <a:endParaRPr lang="en-GB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027CDD7-E793-EF7C-6042-49F4DE0D049A}"/>
                </a:ext>
              </a:extLst>
            </p:cNvPr>
            <p:cNvSpPr txBox="1"/>
            <p:nvPr/>
          </p:nvSpPr>
          <p:spPr>
            <a:xfrm>
              <a:off x="1474122" y="2634664"/>
              <a:ext cx="18942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bg1">
                      <a:lumMod val="50000"/>
                    </a:schemeClr>
                  </a:solidFill>
                </a:rPr>
                <a:t>Bankruptcy risk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082FE9B-02EF-11D8-2C5E-FC220673552B}"/>
                </a:ext>
              </a:extLst>
            </p:cNvPr>
            <p:cNvSpPr txBox="1"/>
            <p:nvPr/>
          </p:nvSpPr>
          <p:spPr>
            <a:xfrm>
              <a:off x="2702302" y="2993509"/>
              <a:ext cx="23785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bg1">
                      <a:lumMod val="50000"/>
                    </a:schemeClr>
                  </a:solidFill>
                </a:rPr>
                <a:t>CO2 per $1M revenue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C27381C-72AD-60A6-243E-E34C16253AF5}"/>
                </a:ext>
              </a:extLst>
            </p:cNvPr>
            <p:cNvSpPr txBox="1"/>
            <p:nvPr/>
          </p:nvSpPr>
          <p:spPr>
            <a:xfrm>
              <a:off x="3642947" y="2641210"/>
              <a:ext cx="29357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bg1">
                      <a:lumMod val="50000"/>
                    </a:schemeClr>
                  </a:solidFill>
                </a:rPr>
                <a:t>Decarbonisation target year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38BDF07-0D44-3112-D3CA-1B466A741AA4}"/>
                </a:ext>
              </a:extLst>
            </p:cNvPr>
            <p:cNvSpPr txBox="1"/>
            <p:nvPr/>
          </p:nvSpPr>
          <p:spPr>
            <a:xfrm>
              <a:off x="2138259" y="2334971"/>
              <a:ext cx="33706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bg1">
                      <a:lumMod val="50000"/>
                    </a:schemeClr>
                  </a:solidFill>
                </a:rPr>
                <a:t>Changes in emissions over time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17D1A85-F002-AE3D-D86B-F2E5A4DBB421}"/>
                </a:ext>
              </a:extLst>
            </p:cNvPr>
            <p:cNvSpPr txBox="1"/>
            <p:nvPr/>
          </p:nvSpPr>
          <p:spPr>
            <a:xfrm>
              <a:off x="5793350" y="2993509"/>
              <a:ext cx="18198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>
                  <a:solidFill>
                    <a:schemeClr val="bg1">
                      <a:lumMod val="50000"/>
                    </a:schemeClr>
                  </a:solidFill>
                </a:rPr>
                <a:t>Social risk score</a:t>
              </a:r>
              <a:endParaRPr lang="en-GB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F566AC9-C218-0116-0580-2CBF978D8140}"/>
                </a:ext>
              </a:extLst>
            </p:cNvPr>
            <p:cNvSpPr txBox="1"/>
            <p:nvPr/>
          </p:nvSpPr>
          <p:spPr>
            <a:xfrm>
              <a:off x="5707966" y="2334981"/>
              <a:ext cx="19239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>
                  <a:solidFill>
                    <a:schemeClr val="bg1">
                      <a:lumMod val="50000"/>
                    </a:schemeClr>
                  </a:solidFill>
                </a:rPr>
                <a:t>Controversy flags</a:t>
              </a:r>
              <a:endParaRPr lang="en-GB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9E7B692-0391-D914-FBC6-6891BDFF222D}"/>
                </a:ext>
              </a:extLst>
            </p:cNvPr>
            <p:cNvSpPr txBox="1"/>
            <p:nvPr/>
          </p:nvSpPr>
          <p:spPr>
            <a:xfrm>
              <a:off x="6581893" y="2634664"/>
              <a:ext cx="24982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>
                  <a:solidFill>
                    <a:schemeClr val="bg1">
                      <a:lumMod val="50000"/>
                    </a:schemeClr>
                  </a:solidFill>
                </a:rPr>
                <a:t>Governance risk score</a:t>
              </a:r>
              <a:endParaRPr lang="en-GB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57BCF0A7-5A79-FE6A-B3A2-D387A69D841C}"/>
              </a:ext>
            </a:extLst>
          </p:cNvPr>
          <p:cNvSpPr txBox="1"/>
          <p:nvPr/>
        </p:nvSpPr>
        <p:spPr>
          <a:xfrm rot="16200000">
            <a:off x="-300094" y="3799545"/>
            <a:ext cx="1155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 b="1"/>
              <a:t>METRICS</a:t>
            </a:r>
            <a:endParaRPr lang="en-GB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624195-4B04-1D9B-1930-511EC99F6F06}"/>
              </a:ext>
            </a:extLst>
          </p:cNvPr>
          <p:cNvSpPr txBox="1"/>
          <p:nvPr/>
        </p:nvSpPr>
        <p:spPr>
          <a:xfrm rot="16200000">
            <a:off x="-247044" y="5037211"/>
            <a:ext cx="106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 b="1"/>
              <a:t>PILLARS</a:t>
            </a:r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426EDF-6B10-8216-085D-9D986F7CB87D}"/>
              </a:ext>
            </a:extLst>
          </p:cNvPr>
          <p:cNvSpPr txBox="1"/>
          <p:nvPr/>
        </p:nvSpPr>
        <p:spPr>
          <a:xfrm rot="16200000">
            <a:off x="-222717" y="6158003"/>
            <a:ext cx="973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 b="1"/>
              <a:t>SCORE</a:t>
            </a:r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13692F2-BD2A-2D19-5C4C-C02323FF872C}"/>
              </a:ext>
            </a:extLst>
          </p:cNvPr>
          <p:cNvSpPr txBox="1"/>
          <p:nvPr/>
        </p:nvSpPr>
        <p:spPr>
          <a:xfrm rot="16200000">
            <a:off x="-241507" y="1705487"/>
            <a:ext cx="101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 b="1"/>
              <a:t>DEFINE</a:t>
            </a:r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11B8D8-9FA2-A8A4-0643-24110F6CC22E}"/>
              </a:ext>
            </a:extLst>
          </p:cNvPr>
          <p:cNvSpPr txBox="1"/>
          <p:nvPr/>
        </p:nvSpPr>
        <p:spPr>
          <a:xfrm>
            <a:off x="9324702" y="3569172"/>
            <a:ext cx="2142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/>
              <a:t>Rank each metric inside its sector</a:t>
            </a:r>
            <a:endParaRPr lang="en-GB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2B3E45-0685-8022-692E-33065331E1D8}"/>
              </a:ext>
            </a:extLst>
          </p:cNvPr>
          <p:cNvSpPr txBox="1"/>
          <p:nvPr/>
        </p:nvSpPr>
        <p:spPr>
          <a:xfrm>
            <a:off x="9324702" y="4595525"/>
            <a:ext cx="2142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/>
              <a:t>Average the ranks in each pillar</a:t>
            </a:r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9BFF7F-2AE1-8064-2558-4058F5D04B4B}"/>
              </a:ext>
            </a:extLst>
          </p:cNvPr>
          <p:cNvSpPr txBox="1"/>
          <p:nvPr/>
        </p:nvSpPr>
        <p:spPr>
          <a:xfrm>
            <a:off x="9324702" y="5552600"/>
            <a:ext cx="2142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/>
              <a:t>Weight the pillars</a:t>
            </a:r>
            <a:endParaRPr lang="en-GB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3FC106B-FA15-78BF-0BB1-F76BA7BD27C1}"/>
              </a:ext>
            </a:extLst>
          </p:cNvPr>
          <p:cNvSpPr txBox="1"/>
          <p:nvPr/>
        </p:nvSpPr>
        <p:spPr>
          <a:xfrm>
            <a:off x="8666020" y="6149542"/>
            <a:ext cx="3459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i="1"/>
              <a:t>A bank and a power company are </a:t>
            </a:r>
            <a:r>
              <a:rPr lang="en-CH" b="1" i="1"/>
              <a:t>never</a:t>
            </a:r>
            <a:r>
              <a:rPr lang="en-CH" i="1"/>
              <a:t> compared on emissions.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E853517-874E-1EC8-E2E3-E68A871790CC}"/>
              </a:ext>
            </a:extLst>
          </p:cNvPr>
          <p:cNvCxnSpPr>
            <a:cxnSpLocks/>
            <a:stCxn id="87" idx="2"/>
            <a:endCxn id="88" idx="0"/>
          </p:cNvCxnSpPr>
          <p:nvPr/>
        </p:nvCxnSpPr>
        <p:spPr>
          <a:xfrm>
            <a:off x="10395753" y="4215503"/>
            <a:ext cx="0" cy="380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B8939E8-DF84-1234-1528-5BA70EB7B956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>
            <a:off x="10395753" y="5241856"/>
            <a:ext cx="0" cy="310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084BFC0-10E6-FBAB-C221-52A7C212B57F}"/>
              </a:ext>
            </a:extLst>
          </p:cNvPr>
          <p:cNvSpPr txBox="1"/>
          <p:nvPr/>
        </p:nvSpPr>
        <p:spPr>
          <a:xfrm rot="16200000">
            <a:off x="-245093" y="2680124"/>
            <a:ext cx="101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 b="1"/>
              <a:t>DATA</a:t>
            </a:r>
            <a:endParaRPr lang="en-GB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173737A-F581-2627-67A8-69AC2F8EF7EF}"/>
              </a:ext>
            </a:extLst>
          </p:cNvPr>
          <p:cNvSpPr txBox="1"/>
          <p:nvPr/>
        </p:nvSpPr>
        <p:spPr>
          <a:xfrm>
            <a:off x="457895" y="2550988"/>
            <a:ext cx="2657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>
                <a:solidFill>
                  <a:schemeClr val="bg1">
                    <a:lumMod val="50000"/>
                  </a:schemeClr>
                </a:solidFill>
              </a:rPr>
              <a:t>World Sustainability Dataset (World Bank)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E81A54D-6CB6-91C8-08F6-06A2F48BBD00}"/>
              </a:ext>
            </a:extLst>
          </p:cNvPr>
          <p:cNvSpPr txBox="1"/>
          <p:nvPr/>
        </p:nvSpPr>
        <p:spPr>
          <a:xfrm>
            <a:off x="2589108" y="2550988"/>
            <a:ext cx="3016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>
                <a:solidFill>
                  <a:schemeClr val="bg1">
                    <a:lumMod val="50000"/>
                  </a:schemeClr>
                </a:solidFill>
              </a:rPr>
              <a:t>EPA Green House Gas Reporting Program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83A8799-C2F6-BB4C-646E-EFC595D33BA7}"/>
              </a:ext>
            </a:extLst>
          </p:cNvPr>
          <p:cNvSpPr txBox="1"/>
          <p:nvPr/>
        </p:nvSpPr>
        <p:spPr>
          <a:xfrm>
            <a:off x="5079755" y="2689487"/>
            <a:ext cx="224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>
                <a:solidFill>
                  <a:schemeClr val="bg1">
                    <a:lumMod val="50000"/>
                  </a:schemeClr>
                </a:solidFill>
              </a:rPr>
              <a:t>Yahoo Finance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61FC70F-8A2A-1E56-23A0-57010148C566}"/>
              </a:ext>
            </a:extLst>
          </p:cNvPr>
          <p:cNvSpPr txBox="1"/>
          <p:nvPr/>
        </p:nvSpPr>
        <p:spPr>
          <a:xfrm>
            <a:off x="6794789" y="2689487"/>
            <a:ext cx="224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>
                <a:solidFill>
                  <a:schemeClr val="bg1">
                    <a:lumMod val="50000"/>
                  </a:schemeClr>
                </a:solidFill>
              </a:rPr>
              <a:t>Sustainalytics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F2C7EB2-0D22-D5E6-8400-1AB316601209}"/>
              </a:ext>
            </a:extLst>
          </p:cNvPr>
          <p:cNvSpPr txBox="1"/>
          <p:nvPr/>
        </p:nvSpPr>
        <p:spPr>
          <a:xfrm>
            <a:off x="6921379" y="4078388"/>
            <a:ext cx="224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>
                <a:solidFill>
                  <a:schemeClr val="bg1">
                    <a:lumMod val="50000"/>
                  </a:schemeClr>
                </a:solidFill>
              </a:rPr>
              <a:t>…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4ECEBB3-95CF-1300-74E9-C9126AF60D39}"/>
              </a:ext>
            </a:extLst>
          </p:cNvPr>
          <p:cNvCxnSpPr>
            <a:cxnSpLocks/>
            <a:stCxn id="89" idx="2"/>
            <a:endCxn id="93" idx="0"/>
          </p:cNvCxnSpPr>
          <p:nvPr/>
        </p:nvCxnSpPr>
        <p:spPr>
          <a:xfrm>
            <a:off x="10395753" y="5921932"/>
            <a:ext cx="1" cy="227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EA758AD-45C3-7B72-487D-C6854F6079AD}"/>
              </a:ext>
            </a:extLst>
          </p:cNvPr>
          <p:cNvCxnSpPr>
            <a:cxnSpLocks/>
            <a:stCxn id="117" idx="2"/>
            <a:endCxn id="87" idx="0"/>
          </p:cNvCxnSpPr>
          <p:nvPr/>
        </p:nvCxnSpPr>
        <p:spPr>
          <a:xfrm>
            <a:off x="10395753" y="3050612"/>
            <a:ext cx="0" cy="518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F7DEEFF-3247-7583-EF7D-D165769A6848}"/>
              </a:ext>
            </a:extLst>
          </p:cNvPr>
          <p:cNvSpPr txBox="1"/>
          <p:nvPr/>
        </p:nvSpPr>
        <p:spPr>
          <a:xfrm>
            <a:off x="9324702" y="2681280"/>
            <a:ext cx="2142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/>
              <a:t>Collect &amp; Aggregate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08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cording_2026_9_13_09_20_18">
            <a:hlinkClick r:id="" action="ppaction://media"/>
            <a:extLst>
              <a:ext uri="{FF2B5EF4-FFF2-40B4-BE49-F238E27FC236}">
                <a16:creationId xmlns:a16="http://schemas.microsoft.com/office/drawing/2014/main" id="{D790BFB7-8655-C2F2-A8AA-FB672EA0923C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1381.146" end="6129.133"/>
                </p14:media>
              </p:ext>
            </p:extLst>
          </p:nvPr>
        </p:nvPicPr>
        <p:blipFill>
          <a:blip r:embed="rId5"/>
          <a:srcRect l="3674" t="6885" r="3733" b="8677"/>
          <a:stretch>
            <a:fillRect/>
          </a:stretch>
        </p:blipFill>
        <p:spPr>
          <a:xfrm>
            <a:off x="275254" y="1571173"/>
            <a:ext cx="8742442" cy="5162204"/>
          </a:xfrm>
          <a:noFill/>
        </p:spPr>
      </p:pic>
      <p:sp>
        <p:nvSpPr>
          <p:cNvPr id="4" name="灯片编号占位符 3" hidden="1">
            <a:extLst>
              <a:ext uri="{FF2B5EF4-FFF2-40B4-BE49-F238E27FC236}">
                <a16:creationId xmlns:a16="http://schemas.microsoft.com/office/drawing/2014/main" id="{F77545AB-2E15-FD83-3F6C-B561239F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30E1991-2E23-C749-8954-349C944DF38F}" type="slidenum">
              <a:rPr lang="en-US" altLang="zh-CN" smtClean="0"/>
              <a:pPr>
                <a:spcAft>
                  <a:spcPts val="600"/>
                </a:spcAft>
              </a:pPr>
              <a:t>7</a:t>
            </a:fld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4CE686-27A7-3281-B56A-DFDCA2F3ED15}"/>
              </a:ext>
            </a:extLst>
          </p:cNvPr>
          <p:cNvSpPr txBox="1"/>
          <p:nvPr/>
        </p:nvSpPr>
        <p:spPr>
          <a:xfrm>
            <a:off x="450166" y="124623"/>
            <a:ext cx="11016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/>
              <a:t>The </a:t>
            </a:r>
            <a:r>
              <a:rPr lang="en-GB" sz="4400" b="1"/>
              <a:t>S&amp;P 500’s carbon problem</a:t>
            </a:r>
            <a:br>
              <a:rPr lang="en-GB" sz="4400" b="1"/>
            </a:br>
            <a:r>
              <a:rPr lang="en-GB" sz="4400"/>
              <a:t>is </a:t>
            </a:r>
            <a:r>
              <a:rPr lang="en-GB" sz="4400" b="1"/>
              <a:t>30 companies</a:t>
            </a:r>
            <a:endParaRPr lang="en-CH" sz="4300" b="1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469F8-60D1-AFAC-E0E8-3DF9B4FB0467}"/>
              </a:ext>
            </a:extLst>
          </p:cNvPr>
          <p:cNvSpPr txBox="1">
            <a:spLocks/>
          </p:cNvSpPr>
          <p:nvPr/>
        </p:nvSpPr>
        <p:spPr>
          <a:xfrm>
            <a:off x="9446815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0E1991-2E23-C749-8954-349C944DF38F}" type="slidenum">
              <a:rPr lang="en-CH"/>
              <a:pPr/>
              <a:t>7</a:t>
            </a:fld>
            <a:endParaRPr lang="en-CH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046B0C-F840-9B75-D468-9BC50F287771}"/>
              </a:ext>
            </a:extLst>
          </p:cNvPr>
          <p:cNvGrpSpPr/>
          <p:nvPr/>
        </p:nvGrpSpPr>
        <p:grpSpPr>
          <a:xfrm>
            <a:off x="7089577" y="3546275"/>
            <a:ext cx="4543390" cy="2661298"/>
            <a:chOff x="8491793" y="7552616"/>
            <a:chExt cx="4543390" cy="266129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E4E3FB2-55E6-E8C1-9120-E2937346EEF1}"/>
                </a:ext>
              </a:extLst>
            </p:cNvPr>
            <p:cNvGrpSpPr/>
            <p:nvPr/>
          </p:nvGrpSpPr>
          <p:grpSpPr>
            <a:xfrm>
              <a:off x="8491793" y="7552616"/>
              <a:ext cx="4543390" cy="2661298"/>
              <a:chOff x="7373356" y="3256938"/>
              <a:chExt cx="4543390" cy="266129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727A411-EDC1-F6E4-CB5B-D98153EF7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373356" y="4152275"/>
                <a:ext cx="4543390" cy="176596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2D983F5-42B0-EB94-26B5-302D8470F4DA}"/>
                  </a:ext>
                </a:extLst>
              </p:cNvPr>
              <p:cNvSpPr/>
              <p:nvPr/>
            </p:nvSpPr>
            <p:spPr>
              <a:xfrm>
                <a:off x="7373356" y="3256938"/>
                <a:ext cx="4543390" cy="882980"/>
              </a:xfrm>
              <a:prstGeom prst="rect">
                <a:avLst/>
              </a:prstGeom>
              <a:solidFill>
                <a:srgbClr val="F5FCF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>
                    <a:solidFill>
                      <a:srgbClr val="010101"/>
                    </a:solidFill>
                  </a:rPr>
                  <a:t>Share of the index's own US emissions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F2979D-2267-88F4-5068-A43F4331C17F}"/>
                </a:ext>
              </a:extLst>
            </p:cNvPr>
            <p:cNvSpPr/>
            <p:nvPr/>
          </p:nvSpPr>
          <p:spPr>
            <a:xfrm>
              <a:off x="8491793" y="8435596"/>
              <a:ext cx="4543390" cy="1778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F55AF7-E744-5658-37A8-33F6D1861511}"/>
                </a:ext>
              </a:extLst>
            </p:cNvPr>
            <p:cNvSpPr/>
            <p:nvPr/>
          </p:nvSpPr>
          <p:spPr>
            <a:xfrm>
              <a:off x="8491793" y="7552616"/>
              <a:ext cx="4543390" cy="1778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219062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472B-0232-FB6A-D005-BE82A60AA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E533EC-E21E-81C2-E4FA-A6D8F9AE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CH" b="1"/>
              <a:t>A carbon tax is a profit tax on thirty companies.</a:t>
            </a:r>
            <a:r>
              <a:rPr lang="en-CH"/>
              <a:t> At $150/t the index's direct US emissions cost $168B a year. Thirty companies carry 84% of that risk. The other 470 barely notice.</a:t>
            </a:r>
          </a:p>
          <a:p>
            <a:pPr lvl="0"/>
            <a:r>
              <a:rPr lang="en-CH" b="1"/>
              <a:t>Ten companies lose their entire operating profit.</a:t>
            </a:r>
            <a:r>
              <a:rPr lang="en-CH"/>
              <a:t> Nine are power utilities (AEP, Entergy, Vistra, Constellation, DTE, PPL, NRG, Evergy, Alliant) and one is a fertiliser maker (CF Industries).</a:t>
            </a:r>
          </a:p>
          <a:p>
            <a:pPr lvl="0"/>
            <a:r>
              <a:rPr lang="en-CH" b="1"/>
              <a:t>The answer is not "sell oil, buy solar".</a:t>
            </a:r>
            <a:r>
              <a:rPr lang="en-CH"/>
              <a:t> ExxonMobil loses 8% of profit, Chevron 8%. NextEra, the renewables poster child, loses 44%, because Florida Power &amp; Light burns gas. Berkshire is the biggest dollar loser in the fund because it owns Berkshire Hathaway Energy. A carbon price on direct emissions hits whoever runs the power plant, not whoever sells the fuel.</a:t>
            </a:r>
          </a:p>
          <a:p>
            <a:pPr lvl="0"/>
            <a:r>
              <a:rPr lang="en-CH" b="1"/>
              <a:t>You still hold all 500.</a:t>
            </a:r>
            <a:r>
              <a:rPr lang="en-CH"/>
              <a:t> The fund reweights, it does not divest. Utilities go from 2.3% to 0.8%, energy from 3.4% to 2.1%, tech from 34.6% to 36.1%. Nothing else moves more than half a point.</a:t>
            </a:r>
          </a:p>
          <a:p>
            <a:pPr lvl="0"/>
            <a:r>
              <a:rPr lang="en-CH" b="1"/>
              <a:t>It works at any price.</a:t>
            </a:r>
            <a:r>
              <a:rPr lang="en-CH"/>
              <a:t> At $80 (the EU price) 14 names are cut. At $250, 35, and Boeing, Valero and Marathon join. The slider is the scenario. A fiduciary can pick the price they believe and read off the portfolio.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2EE6D-CE19-6A7B-D3D2-FE9AA5CF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rPr lang="en-CH"/>
              <a:t>8</a:t>
            </a:fld>
            <a:endParaRPr lang="en-C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C42F9-8210-9DE6-14F5-6931D42E3FB8}"/>
              </a:ext>
            </a:extLst>
          </p:cNvPr>
          <p:cNvSpPr txBox="1"/>
          <p:nvPr/>
        </p:nvSpPr>
        <p:spPr>
          <a:xfrm>
            <a:off x="61564" y="5534479"/>
            <a:ext cx="6101542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CH" sz="1800" b="1" i="0">
                <a:solidFill>
                  <a:schemeClr val="tx1"/>
                </a:solidFill>
                <a:effectLst/>
                <a:latin typeface="+mn-lt"/>
              </a:rPr>
              <a:t>Show:</a:t>
            </a:r>
            <a:r>
              <a:rPr lang="en-CH" sz="1800" b="0" i="0">
                <a:solidFill>
                  <a:schemeClr val="tx1"/>
                </a:solidFill>
                <a:effectLst/>
                <a:latin typeface="+mn-lt"/>
              </a:rPr>
              <a:t> Screen recording of the Fund tab, carbon price slider at $150. Point at the result tiles, then the "companies cut" list, then the sector tilt bars. Put the three tiles and the bullets below as a static overlay on the left; the recording on the right.</a:t>
            </a:r>
          </a:p>
          <a:p>
            <a:pPr>
              <a:buNone/>
            </a:pPr>
            <a:br>
              <a:rPr lang="en-CH"/>
            </a:br>
            <a:endParaRPr lang="en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18F17-6D5C-9488-F563-561A07592D3A}"/>
              </a:ext>
            </a:extLst>
          </p:cNvPr>
          <p:cNvSpPr txBox="1"/>
          <p:nvPr/>
        </p:nvSpPr>
        <p:spPr>
          <a:xfrm>
            <a:off x="450165" y="124623"/>
            <a:ext cx="114258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4400"/>
              <a:t>Where to invest under a carbon tax?</a:t>
            </a:r>
            <a:br>
              <a:rPr lang="en-CH" sz="4400"/>
            </a:br>
            <a:r>
              <a:rPr lang="en-CH" sz="4400" b="1"/>
              <a:t>Move 4%. Cut CO2 by 83%.</a:t>
            </a:r>
          </a:p>
        </p:txBody>
      </p:sp>
    </p:spTree>
    <p:extLst>
      <p:ext uri="{BB962C8B-B14F-4D97-AF65-F5344CB8AC3E}">
        <p14:creationId xmlns:p14="http://schemas.microsoft.com/office/powerpoint/2010/main" val="376512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33B2-D49E-B3D0-47D5-FBE517F2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E92A-FE08-FCC0-6FBE-20032246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/>
              <a:t>One carbon price is a start,</a:t>
            </a:r>
            <a:br>
              <a:rPr lang="en-CH"/>
            </a:br>
            <a:r>
              <a:rPr lang="en-CH"/>
              <a:t>the map is the next step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2ADAC6-79C8-F626-4D5C-49A2E26B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7094" cy="4351338"/>
          </a:xfrm>
        </p:spPr>
        <p:txBody>
          <a:bodyPr>
            <a:normAutofit fontScale="92500"/>
          </a:bodyPr>
          <a:lstStyle/>
          <a:p>
            <a:r>
              <a:rPr lang="en-CH" b="1"/>
              <a:t>Today</a:t>
            </a:r>
            <a:br>
              <a:rPr lang="en-CH"/>
            </a:br>
            <a:r>
              <a:rPr lang="en-CH"/>
              <a:t>Head office of every S&amp;P 500 company. Carbon and energy numbers for every country.</a:t>
            </a:r>
          </a:p>
          <a:p>
            <a:r>
              <a:rPr lang="en-CH" b="1"/>
              <a:t>Already in the data</a:t>
            </a:r>
            <a:br>
              <a:rPr lang="en-CH"/>
            </a:br>
            <a:r>
              <a:rPr lang="en-CH"/>
              <a:t>The EPA lists the coordinates of every reporting site: 2,265 plants.</a:t>
            </a:r>
          </a:p>
          <a:p>
            <a:r>
              <a:rPr lang="en-CH" b="1"/>
              <a:t>Next</a:t>
            </a:r>
            <a:br>
              <a:rPr lang="en-CH"/>
            </a:br>
            <a:r>
              <a:rPr lang="en-CH"/>
              <a:t>A carbon price per state. Each plant pays the price where it stands. The fund updates.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F9B9A3-DC1D-1B55-886F-897F2E96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rPr lang="en-CH"/>
              <a:t>9</a:t>
            </a:fld>
            <a:endParaRPr lang="en-CH"/>
          </a:p>
        </p:txBody>
      </p:sp>
      <p:pic>
        <p:nvPicPr>
          <p:cNvPr id="4" name="Recording_2026_9_13_10_46_16">
            <a:hlinkClick r:id="" action="ppaction://media"/>
            <a:extLst>
              <a:ext uri="{FF2B5EF4-FFF2-40B4-BE49-F238E27FC236}">
                <a16:creationId xmlns:a16="http://schemas.microsoft.com/office/drawing/2014/main" id="{E764A9FB-A46A-7000-5B86-FBB171AE0C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6398" t="14552" r="26435" b="11587"/>
          <a:stretch>
            <a:fillRect/>
          </a:stretch>
        </p:blipFill>
        <p:spPr>
          <a:xfrm>
            <a:off x="6494929" y="1138485"/>
            <a:ext cx="4858871" cy="4926419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691923-EDC6-E88F-08D7-A68D3079EC27}"/>
              </a:ext>
            </a:extLst>
          </p:cNvPr>
          <p:cNvSpPr txBox="1"/>
          <p:nvPr/>
        </p:nvSpPr>
        <p:spPr>
          <a:xfrm>
            <a:off x="7019364" y="6230293"/>
            <a:ext cx="485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>
                <a:solidFill>
                  <a:schemeClr val="bg1">
                    <a:lumMod val="50000"/>
                  </a:schemeClr>
                </a:solidFill>
              </a:rPr>
              <a:t>Featuring data from https://carbonmapper.org/</a:t>
            </a:r>
          </a:p>
        </p:txBody>
      </p:sp>
    </p:spTree>
    <p:extLst>
      <p:ext uri="{BB962C8B-B14F-4D97-AF65-F5344CB8AC3E}">
        <p14:creationId xmlns:p14="http://schemas.microsoft.com/office/powerpoint/2010/main" val="96931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BC48-F99B-52E7-2093-53310B05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What our framework doesn’t know…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8C2F0FC-1814-09E0-FE25-6BB187D3C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4557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21F4-6C97-FE40-F717-BDAFBBB3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rPr lang="en-CH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7308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F891-891F-C720-065D-6CAEDCFE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4E0AA8-E1B0-A04F-5C2F-C7A366A8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rPr lang="en-CH"/>
              <a:t>11</a:t>
            </a:fld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CC155-D27B-F5FC-9232-1F3737A2CC2C}"/>
              </a:ext>
            </a:extLst>
          </p:cNvPr>
          <p:cNvSpPr txBox="1"/>
          <p:nvPr/>
        </p:nvSpPr>
        <p:spPr>
          <a:xfrm>
            <a:off x="450166" y="124623"/>
            <a:ext cx="11016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4400" b="1"/>
              <a:t>GreenRank</a:t>
            </a:r>
            <a:r>
              <a:rPr lang="en-CH" sz="4400"/>
              <a:t> survives Monday</a:t>
            </a:r>
            <a:endParaRPr lang="en-CH" sz="4400" b="1"/>
          </a:p>
        </p:txBody>
      </p:sp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51E90587-493E-C885-EB3A-C8F35969DD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696196"/>
              </p:ext>
            </p:extLst>
          </p:nvPr>
        </p:nvGraphicFramePr>
        <p:xfrm>
          <a:off x="347133" y="1931784"/>
          <a:ext cx="7094192" cy="3917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C687CAE-30CC-4E2C-2600-C96D87184ED4}"/>
              </a:ext>
            </a:extLst>
          </p:cNvPr>
          <p:cNvSpPr txBox="1"/>
          <p:nvPr/>
        </p:nvSpPr>
        <p:spPr>
          <a:xfrm>
            <a:off x="8055540" y="2485646"/>
            <a:ext cx="34107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4400" b="1"/>
              <a:t>Try it today: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CEAB1D-6CBA-258A-FAA6-36C2A5F84352}"/>
              </a:ext>
            </a:extLst>
          </p:cNvPr>
          <p:cNvSpPr txBox="1"/>
          <p:nvPr/>
        </p:nvSpPr>
        <p:spPr>
          <a:xfrm>
            <a:off x="8649012" y="3744245"/>
            <a:ext cx="28172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4400" b="1"/>
              <a:t>BARCODE</a:t>
            </a:r>
          </a:p>
        </p:txBody>
      </p:sp>
    </p:spTree>
    <p:extLst>
      <p:ext uri="{BB962C8B-B14F-4D97-AF65-F5344CB8AC3E}">
        <p14:creationId xmlns:p14="http://schemas.microsoft.com/office/powerpoint/2010/main" val="334513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1634</Words>
  <Application>Microsoft Macintosh PowerPoint</Application>
  <PresentationFormat>Widescreen</PresentationFormat>
  <Paragraphs>147</Paragraphs>
  <Slides>11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 carbon price is a start, the map is the next step</vt:lpstr>
      <vt:lpstr>What our framework doesn’t know…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Greicius  Aurimas</dc:creator>
  <cp:lastModifiedBy>Greicius  Aurimas</cp:lastModifiedBy>
  <cp:revision>6</cp:revision>
  <dcterms:created xsi:type="dcterms:W3CDTF">2026-09-12T15:54:18Z</dcterms:created>
  <dcterms:modified xsi:type="dcterms:W3CDTF">2026-09-13T09:36:10Z</dcterms:modified>
</cp:coreProperties>
</file>