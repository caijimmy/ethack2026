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56" r:id="rId3"/>
    <p:sldId id="257" r:id="rId4"/>
    <p:sldId id="258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49572"/>
  </p:normalViewPr>
  <p:slideViewPr>
    <p:cSldViewPr snapToGrid="0" showGuides="1">
      <p:cViewPr>
        <p:scale>
          <a:sx n="41" d="100"/>
          <a:sy n="41" d="100"/>
        </p:scale>
        <p:origin x="864" y="51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0EB5F-A12E-C849-9315-8E88DDC9233D}" type="datetimeFigureOut">
              <a:t>12.09.2026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B1ECA-CBF8-E445-8DD0-8EA4E5CF8890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00933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80496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16819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B1ECA-CBF8-E445-8DD0-8EA4E5CF8890}" type="slidenum"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907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BBD41-BEE5-F675-B77D-C52908A75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6E568-A0BA-B3FA-0BE9-F1CF53FC0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9FC8E-3A1D-8766-6314-E31B396E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9559E-B089-5E0B-07EF-D2CE77A9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79DB6-165A-E93B-83F6-CE604182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4437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2926-11A9-8AE1-4266-46B4F36F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596DC-469C-A950-E45B-CDB1B65D2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FEC15-5CA3-4A54-AF04-747D7E43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927FC-65AA-ED15-4412-FD71BBEFC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783C0-1119-B890-F460-CE7EAAF8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6211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AA5D-D072-2C1E-2F24-4B4B0115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4C32E-1E38-5A25-E098-1050D6B5A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492CB-E56B-AF95-FE60-861991A3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D0DD-21C7-EC3B-6162-2061252B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AE889-FC2B-EF8E-BFCB-F6282314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82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9829-1B47-E9A1-BD8D-258E76A8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C106E-DF80-0726-D153-091BB1D7A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49AE0-1297-51C2-A4DD-EAA5B1147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C7528-C768-C432-0795-79FD3B374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149B8-15AF-B339-5E69-387B3F23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43189-5C51-1EAE-7F12-90305D18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8105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B7BE-DE86-E63E-B7FF-3E1999481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55CD2-E714-97C1-1F68-C149BC9B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F4750-5554-03D8-65CB-867D99367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40F1C-D87B-1036-07A3-549B33C18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7E44F-248A-A070-FE8C-BDD1FD79E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74C4A-BBB5-B045-DC5D-0ACD2900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CB13BE-E16F-5153-5AB7-66707C63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26A0E-12C8-F1F5-42C8-C270F744C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5808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5495-279A-A468-3FCC-43C74EDAA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285A4-C49F-FA23-DB1B-15DC199C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2AD36-9CB5-87C8-52C0-BF6E7C0C0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6043E-CF2A-E863-AC3E-0F08905B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0019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B284E-7014-0A7A-7778-1D1DCC74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0687B-AD4E-CE10-4FCE-DBE43A92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F3E3E-BD81-CA89-5F36-9A9D3C50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5092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4ABD-9B28-EAB2-3A73-6F11D6058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CC497-84FF-29D0-ED48-398A76236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6A66B-7552-2D09-B738-C8457F7DA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E065F-C4EE-DC6B-8C72-E1A69EB9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4C08A-0D86-CE47-26F7-9C45FB16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95982-FF07-179D-8E01-E5C5C12E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3228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3914-5CD5-2664-3F44-8E6C6AAA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F0496-0D6A-F4EC-4BD3-DAE78C513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4188C-F85D-7957-1010-59F7E267B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A0A57-16D9-7F43-1766-D9E137FF8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98ED7-6021-0825-C9CA-4862739D4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0FA15-FDB8-6793-D504-2F0D94CC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3038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BAC9-BA98-CF2F-9C89-4027525A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332CD-8754-EFDA-2215-6ECEADB73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918DB-9750-AC28-CBAC-D2A7C8001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4C779-DA0B-B7A5-0EDA-E0809EF7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A0903-A323-C39D-5AC3-2B468BBD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2770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05830-681F-FEFE-582D-CD5664327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BDABD-C1DC-4A97-70E2-DF0637849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6BD14-5A02-537C-C767-B0F925D6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990CE-20F2-C963-B58E-583B5F5B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D2297-73F7-F2E8-2FEB-4D2448FA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0849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6D41E-A919-18C8-763A-D0E58223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B1B8C-E627-55C2-134D-0E136DB72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B0B41-8997-490E-A10E-EFAB59E7F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26EE79-DED8-2D42-AD69-BA28D881E81D}" type="datetimeFigureOut">
              <a:t>12.09.2026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7C0EF-982C-E701-3760-251EC7868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51CFA-EEDE-102C-E912-F39397DD9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E1991-2E23-C749-8954-349C944DF38F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0773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0CE9-8A6F-2136-FE9C-DCF0B9A0F7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/>
              <a:t>Who we target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E4263-6F5D-4273-D030-253FFEDC48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i="1"/>
              <a:t>“Imagine youre an independent investor, looking to invest in a greener future”</a:t>
            </a:r>
          </a:p>
        </p:txBody>
      </p:sp>
    </p:spTree>
    <p:extLst>
      <p:ext uri="{BB962C8B-B14F-4D97-AF65-F5344CB8AC3E}">
        <p14:creationId xmlns:p14="http://schemas.microsoft.com/office/powerpoint/2010/main" val="1227875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7DCC-9AD9-2282-754B-AA5193302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09175" y="800100"/>
            <a:ext cx="13337325" cy="5257800"/>
          </a:xfrm>
        </p:spPr>
        <p:txBody>
          <a:bodyPr>
            <a:normAutofit fontScale="90000"/>
          </a:bodyPr>
          <a:lstStyle/>
          <a:p>
            <a:r>
              <a:rPr lang="en-CH" i="1"/>
              <a:t>“Imagine youre an independent investor, looking to invest in a greener future”</a:t>
            </a:r>
            <a:br>
              <a:rPr lang="en-CH" i="1"/>
            </a:br>
            <a:br>
              <a:rPr lang="en-CH"/>
            </a:br>
            <a:r>
              <a:rPr lang="en-CH"/>
              <a:t>Hook: If you answered wrongly (Intuition fails) - you need data.</a:t>
            </a:r>
            <a:br>
              <a:rPr lang="en-CH"/>
            </a:br>
            <a:br>
              <a:rPr lang="en-CH"/>
            </a:br>
            <a:r>
              <a:rPr lang="en-CH"/>
              <a:t>“</a:t>
            </a:r>
            <a:r>
              <a:rPr lang="en-CH" i="1"/>
              <a:t>Your intuition about sustainability is wrong, and so is most of the market’s.”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8FC69-BDE8-5ED4-6728-4D2FA0084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E542F0-4CC0-F98B-5F8B-DA7FA53E3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2298385"/>
            <a:ext cx="7772400" cy="426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BF26-BA01-192A-3F5A-B93EBB5E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5337"/>
          </a:xfrm>
        </p:spPr>
        <p:txBody>
          <a:bodyPr>
            <a:normAutofit fontScale="90000"/>
          </a:bodyPr>
          <a:lstStyle/>
          <a:p>
            <a:r>
              <a:rPr lang="en-CH" b="1"/>
              <a:t>Problem:</a:t>
            </a:r>
            <a:br>
              <a:rPr lang="en-CH" b="1"/>
            </a:br>
            <a:r>
              <a:rPr lang="en-CH"/>
              <a:t>ESG ratings from the big raters agree with each other only about half the time, cost tens of thousands a year, and are black boxes. </a:t>
            </a:r>
            <a:br>
              <a:rPr lang="en-CH"/>
            </a:br>
            <a:br>
              <a:rPr lang="en-CH"/>
            </a:br>
            <a:r>
              <a:rPr lang="en-CH"/>
              <a:t>We use the one dataset companies are legally required to file: EPA facility emissions, joined to financials and ratings for all 500 companies.</a:t>
            </a:r>
            <a:br>
              <a:rPr lang="en-CH"/>
            </a:br>
            <a:br>
              <a:rPr lang="en-CH"/>
            </a:br>
            <a:r>
              <a:rPr lang="en-CH"/>
              <a:t>This is where NAME comes in</a:t>
            </a:r>
          </a:p>
        </p:txBody>
      </p:sp>
      <p:pic>
        <p:nvPicPr>
          <p:cNvPr id="4" name="Picture 3" descr="chart-anatomy-sp-esg-score">
            <a:extLst>
              <a:ext uri="{FF2B5EF4-FFF2-40B4-BE49-F238E27FC236}">
                <a16:creationId xmlns:a16="http://schemas.microsoft.com/office/drawing/2014/main" id="{91CCAC44-39E1-3E9F-1C23-5E280BC31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405" y="1749951"/>
            <a:ext cx="5953835" cy="366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2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5CAF-BECC-4948-6805-79D70718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H"/>
              <a:t>Tree Explorer allows to visualize per section.. </a:t>
            </a:r>
            <a:br>
              <a:rPr lang="en-CH"/>
            </a:br>
            <a:r>
              <a:rPr lang="en-GB"/>
              <a:t>T</a:t>
            </a:r>
            <a:r>
              <a:rPr lang="en-CH"/>
              <a:t>he chart flips when CO2 emission size to utilities from Tech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084CBC-C9AF-DA99-534A-3AD1986AA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164512"/>
              </p:ext>
            </p:extLst>
          </p:nvPr>
        </p:nvGraphicFramePr>
        <p:xfrm>
          <a:off x="838200" y="5191760"/>
          <a:ext cx="10515600" cy="746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51897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015065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20252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Companies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Share of index's own US emissions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Share of index market value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690828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Top 10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49%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3.3%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19363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Top 30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85%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5.1%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705454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All utilities and energy (51)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82%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H" sz="975">
                          <a:effectLst/>
                        </a:rPr>
                        <a:t>5.3%</a:t>
                      </a:r>
                      <a:endParaRPr lang="en-CH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4021629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5CC2E2-8415-25B6-C05F-20C15B4C2B95}"/>
              </a:ext>
            </a:extLst>
          </p:cNvPr>
          <p:cNvSpPr txBox="1"/>
          <p:nvPr/>
        </p:nvSpPr>
        <p:spPr>
          <a:xfrm>
            <a:off x="351693" y="219675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CH" sz="1800" b="1" i="0">
                <a:solidFill>
                  <a:schemeClr val="tx1"/>
                </a:solidFill>
                <a:effectLst/>
                <a:latin typeface="+mn-lt"/>
              </a:rPr>
              <a:t>The S&amp;P 500's sustainability problem is 30 companies.</a:t>
            </a:r>
            <a:r>
              <a:rPr lang="en-CH" sz="1800" b="0" i="0">
                <a:solidFill>
                  <a:schemeClr val="tx1"/>
                </a:solidFill>
                <a:effectLst/>
                <a:latin typeface="+mn-lt"/>
              </a:rPr>
              <a:t> Direct emissions are wildly concentrated, and everything in the demo flows from that fact.</a:t>
            </a:r>
          </a:p>
          <a:p>
            <a:pPr indent="0" algn="l">
              <a:buNone/>
            </a:pPr>
            <a:endParaRPr lang="en-CH"/>
          </a:p>
          <a:p>
            <a:r>
              <a:rPr lang="en-CH"/>
              <a:t>Show the treemap sized by market value. Flip the size dropdown to CO2. The picture inverts: tech vanishes, utilities fill the screen. Say the 30-company number. Click one box to show the score card, each metric with its sector percentile and source. Record this flip as the centerpiece of the video.</a:t>
            </a:r>
            <a:endParaRPr lang="en-CH" sz="1800" b="0" i="0">
              <a:solidFill>
                <a:srgbClr val="FFFFFF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84392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472B-0232-FB6A-D005-BE82A60AA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E6C2-48D3-82BB-EBC5-9843693A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/>
              <a:t>The Fund explorer proposes a funding scheme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E533EC-E21E-81C2-E4FA-A6D8F9AEF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/>
              <a:t>Essentially show how the fund changes, compared to S&amp;P500, less in utilities, more in tech</a:t>
            </a:r>
          </a:p>
        </p:txBody>
      </p:sp>
    </p:spTree>
    <p:extLst>
      <p:ext uri="{BB962C8B-B14F-4D97-AF65-F5344CB8AC3E}">
        <p14:creationId xmlns:p14="http://schemas.microsoft.com/office/powerpoint/2010/main" val="3765127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33B2-D49E-B3D0-47D5-FBE517F2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E92A-FE08-FCC0-6FBE-20032246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/>
              <a:t>Explore the Globe!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2ADAC6-79C8-F626-4D5C-49A2E26BA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/>
              <a:t>? Not sure yet how to make the globe fit in – the water stress has sub US resolution, so that’s an option but may be not as relevant, perhaps say it’s a feature to be developed, once we also expand beyond the S&amp;P 500 (eg if we go to beyond US-based)</a:t>
            </a:r>
          </a:p>
        </p:txBody>
      </p:sp>
    </p:spTree>
    <p:extLst>
      <p:ext uri="{BB962C8B-B14F-4D97-AF65-F5344CB8AC3E}">
        <p14:creationId xmlns:p14="http://schemas.microsoft.com/office/powerpoint/2010/main" val="969314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BC48-F99B-52E7-2093-53310B05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Before we conclude, we’d like to list the limits… (Advantages!)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4EA03-E2E0-1308-F2E0-BA93FA057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/>
              <a:t>Datasets, etc – we use free, but ofc we are paywalled.</a:t>
            </a:r>
          </a:p>
          <a:p>
            <a:r>
              <a:rPr lang="en-CH"/>
              <a:t>This does mean free access to everyone who uses, but perhaps not the “SOTA”.</a:t>
            </a:r>
          </a:p>
          <a:p>
            <a:r>
              <a:rPr lang="en-CH"/>
              <a:t>Easy to understand</a:t>
            </a:r>
          </a:p>
          <a:p>
            <a:r>
              <a:rPr lang="en-CH"/>
              <a:t>Transparency</a:t>
            </a:r>
          </a:p>
          <a:p>
            <a:endParaRPr lang="en-CH"/>
          </a:p>
          <a:p>
            <a:r>
              <a:rPr lang="en-CH"/>
              <a:t>Data can be easily updated each year, by what the companies are legally required to publish anyways</a:t>
            </a:r>
          </a:p>
        </p:txBody>
      </p:sp>
    </p:spTree>
    <p:extLst>
      <p:ext uri="{BB962C8B-B14F-4D97-AF65-F5344CB8AC3E}">
        <p14:creationId xmlns:p14="http://schemas.microsoft.com/office/powerpoint/2010/main" val="237308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438</Words>
  <Application>Microsoft Macintosh PowerPoint</Application>
  <PresentationFormat>Widescreen</PresentationFormat>
  <Paragraphs>34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Aptos</vt:lpstr>
      <vt:lpstr>Aptos Display</vt:lpstr>
      <vt:lpstr>Arial</vt:lpstr>
      <vt:lpstr>Office Theme</vt:lpstr>
      <vt:lpstr>Who we target</vt:lpstr>
      <vt:lpstr>“Imagine youre an independent investor, looking to invest in a greener future”  Hook: If you answered wrongly (Intuition fails) - you need data.  “Your intuition about sustainability is wrong, and so is most of the market’s.”</vt:lpstr>
      <vt:lpstr>Problem: ESG ratings from the big raters agree with each other only about half the time, cost tens of thousands a year, and are black boxes.   We use the one dataset companies are legally required to file: EPA facility emissions, joined to financials and ratings for all 500 companies.  This is where NAME comes in</vt:lpstr>
      <vt:lpstr>Tree Explorer allows to visualize per section..  The chart flips when CO2 emission size to utilities from Tech</vt:lpstr>
      <vt:lpstr>The Fund explorer proposes a funding scheme</vt:lpstr>
      <vt:lpstr>Explore the Globe!</vt:lpstr>
      <vt:lpstr>Before we conclude, we’d like to list the limits… (Advantages!)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Greicius  Aurimas</dc:creator>
  <cp:lastModifiedBy>Greicius  Aurimas</cp:lastModifiedBy>
  <cp:revision>22</cp:revision>
  <dcterms:created xsi:type="dcterms:W3CDTF">2026-09-12T15:54:18Z</dcterms:created>
  <dcterms:modified xsi:type="dcterms:W3CDTF">2026-09-12T17:32:46Z</dcterms:modified>
</cp:coreProperties>
</file>